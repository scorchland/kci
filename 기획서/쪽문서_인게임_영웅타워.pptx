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38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8683B-2362-4E76-AEBA-565213346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076B9A-E918-4707-BFD2-E7DE704B6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0C8180-B6E2-44B4-A1D0-EAE1B49A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49AE4F-2618-48D2-9040-076995E9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D3B9D-F1FD-4DBE-A00D-F9C9489E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69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7A49B-2EF5-48DF-AE7E-C3B1BA3D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52B301-0896-43ED-8CE1-CED787D54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51958E-FCF5-4894-86C7-57FB00E9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1FA2CD-0B89-418A-A80F-1D87E71D3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4A09BD-78C0-4C6C-9580-5F16F57F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23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FEBB0-7F57-41F8-A024-B64CB8B6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AF56D0-DE27-4D9A-9B8B-0377EE0E2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A7D4E9-3113-4FD2-8332-A082875C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3014A5-473F-4001-A9EA-76153688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429EF3-72B6-4720-8ABF-FF3EA40F5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789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A5F66-0465-400A-A58C-4D9D1AAD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3A172-C471-43C5-B5B7-85779A160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DB2477-F164-412E-A522-7CB516792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B3AEDC-BDDC-4498-9195-8FC8B8E6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13AE2D-B13B-44C9-830F-0E4D7E26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4CE156-C139-4FE9-9F90-E0C2F834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29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E252C-8F11-45E8-A1C0-731E6EB42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6C1EE-AD36-4384-B526-256C8406F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550BAA-9402-404C-9819-E0440950D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828FED-BD30-402D-A718-B2E83275F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C62E19-F6A5-4717-8FC1-BCC7EBD4A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4D8BD4-37B6-40DD-A6BA-4A5285FF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55351F-4CCE-44C1-9BE4-E955313B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487AB6-C542-494D-B186-6A836B71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44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8C518-8E83-42C9-85D6-3950911E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8BEFFD-378A-41A2-A39B-06B5E329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756196-40B5-41A4-8F10-5B3DFBF6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123C45-519D-4E85-963A-6F3D7DD8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10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B716C2-D848-42AD-9BCE-1A4DA9B4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D0E36C-34EB-48A0-A421-7E92938B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ED5D52-5607-4E9E-B291-35AF6775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27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4168A-CD1A-4E7A-9953-A1700A05A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71AFB2-11BA-4AC6-B382-ABB149779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F479C7-64C7-4F5E-A5A3-C7C23929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C96F28-29CE-455C-BFBB-0AFB269C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898D81-2C20-4B48-89F2-E7C39A40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C3403C-46EA-4CEB-8C54-E5BC051E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195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E9831-C1FE-4299-BB21-9089A61C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18A934-DA92-4028-8474-EAF8A54469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FD2E5F-8930-4817-8675-169265C28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470AE5-F059-40D3-9E4C-9E1A9D4A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142464-AC15-4DCC-82D1-97849203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0F2D91-C8ED-48E2-B9E6-3368F9BA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38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82E3A-6879-4853-A394-B682BF1B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49ECCF-E232-4BD5-89E4-62F50F6A2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0B8623-655C-4C3A-8594-4473395D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77F9B0-1AD9-430D-9AAD-255CF58A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F86646-E485-4E10-9AF1-B982020A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177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4E4507-7858-422B-BAF7-CF5923E96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97DF0E-BC8F-446D-ADE8-4DC1FE579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948475-E240-491A-A817-33270418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FD9D36-2649-4A58-BDB5-7BB9A2AAA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CFEBE2-F62A-48AE-8467-991F9270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71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593047-1BFA-47B5-A4A2-972AA193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EA64A4-7507-4235-B43E-307BF8411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DDDC50-9822-4653-A9F8-755876A73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F5A59-4C58-44DB-986A-66764A921BDF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8091DC-3ECD-45AD-8A88-90BC58594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FAEF36-EFDC-4269-8009-AA8E8D5CF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926D4-1955-4CA3-8AD2-E036F42016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34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D605FA-0986-4426-943A-407FB8E51E9D}"/>
              </a:ext>
            </a:extLst>
          </p:cNvPr>
          <p:cNvSpPr txBox="1"/>
          <p:nvPr/>
        </p:nvSpPr>
        <p:spPr>
          <a:xfrm>
            <a:off x="3874880" y="2032144"/>
            <a:ext cx="4442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타워 인벤토리 쪽문서</a:t>
            </a:r>
          </a:p>
        </p:txBody>
      </p:sp>
    </p:spTree>
    <p:extLst>
      <p:ext uri="{BB962C8B-B14F-4D97-AF65-F5344CB8AC3E}">
        <p14:creationId xmlns:p14="http://schemas.microsoft.com/office/powerpoint/2010/main" val="35271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313620-6EC6-4086-B8AA-5A3E4D8B507F}"/>
              </a:ext>
            </a:extLst>
          </p:cNvPr>
          <p:cNvSpPr txBox="1"/>
          <p:nvPr/>
        </p:nvSpPr>
        <p:spPr>
          <a:xfrm>
            <a:off x="5029042" y="663576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문서 수정 내역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EEF15E-59B2-4B4B-99AB-16D897A76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340665"/>
              </p:ext>
            </p:extLst>
          </p:nvPr>
        </p:nvGraphicFramePr>
        <p:xfrm>
          <a:off x="714376" y="1470597"/>
          <a:ext cx="10763248" cy="425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69">
                  <a:extLst>
                    <a:ext uri="{9D8B030D-6E8A-4147-A177-3AD203B41FA5}">
                      <a16:colId xmlns:a16="http://schemas.microsoft.com/office/drawing/2014/main" val="4084353122"/>
                    </a:ext>
                  </a:extLst>
                </a:gridCol>
                <a:gridCol w="6357044">
                  <a:extLst>
                    <a:ext uri="{9D8B030D-6E8A-4147-A177-3AD203B41FA5}">
                      <a16:colId xmlns:a16="http://schemas.microsoft.com/office/drawing/2014/main" val="10204353"/>
                    </a:ext>
                  </a:extLst>
                </a:gridCol>
                <a:gridCol w="2140035">
                  <a:extLst>
                    <a:ext uri="{9D8B030D-6E8A-4147-A177-3AD203B41FA5}">
                      <a16:colId xmlns:a16="http://schemas.microsoft.com/office/drawing/2014/main" val="3250840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에스코어 드림 7 ExtraBold" panose="020B0803030302020204" pitchFamily="34" charset="-127"/>
                          <a:ea typeface="에스코어 드림 7 ExtraBold" panose="020B0803030302020204" pitchFamily="34" charset="-127"/>
                        </a:rPr>
                        <a:t>날짜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에스코어 드림 7 ExtraBold" panose="020B0803030302020204" pitchFamily="34" charset="-127"/>
                          <a:ea typeface="에스코어 드림 7 ExtraBold" panose="020B0803030302020204" pitchFamily="34" charset="-127"/>
                        </a:rPr>
                        <a:t>수정 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에스코어 드림 7 ExtraBold" panose="020B0803030302020204" pitchFamily="34" charset="-127"/>
                          <a:ea typeface="에스코어 드림 7 ExtraBold" panose="020B0803030302020204" pitchFamily="34" charset="-127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25127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2025. 04. 24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문서 최초 공유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72309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40462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69377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8836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789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2981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78437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7512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0910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4525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48638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046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57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FD6BA0B-CE84-4FDC-AACE-67EB18A5A2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724" b="-412"/>
          <a:stretch/>
        </p:blipFill>
        <p:spPr>
          <a:xfrm>
            <a:off x="840746" y="1972347"/>
            <a:ext cx="2745696" cy="41298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84DD7ED-D641-4048-B2DC-2FD2B03ECAF3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895FC-AD32-4677-B940-70D4BECD64E1}"/>
              </a:ext>
            </a:extLst>
          </p:cNvPr>
          <p:cNvSpPr txBox="1"/>
          <p:nvPr/>
        </p:nvSpPr>
        <p:spPr>
          <a:xfrm>
            <a:off x="840746" y="513168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0.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레퍼런스 점검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91E2A-0CA9-46D9-96A4-09EEBF073158}"/>
              </a:ext>
            </a:extLst>
          </p:cNvPr>
          <p:cNvSpPr txBox="1"/>
          <p:nvPr/>
        </p:nvSpPr>
        <p:spPr>
          <a:xfrm>
            <a:off x="745699" y="755794"/>
            <a:ext cx="5025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영웅 변경 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UX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의 레퍼런스</a:t>
            </a:r>
            <a:r>
              <a:rPr lang="en-US" altLang="ko-KR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: </a:t>
            </a:r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언더 다크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880CC-A57C-4064-872C-6D18EED040FD}"/>
              </a:ext>
            </a:extLst>
          </p:cNvPr>
          <p:cNvSpPr txBox="1"/>
          <p:nvPr/>
        </p:nvSpPr>
        <p:spPr>
          <a:xfrm>
            <a:off x="4751166" y="5208504"/>
            <a:ext cx="3413114" cy="1109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타워 인벤토리 레퍼런스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타워는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2x2 / 3x2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등 각자 사이즈가 있음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인벤토리에서는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큰 셀 안에 타워가 표시됨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덤으로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레벨 이상은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Lv.0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텍스트 표시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165D3376-B4CF-4C0D-8518-46E26DF26BC6}"/>
              </a:ext>
            </a:extLst>
          </p:cNvPr>
          <p:cNvSpPr/>
          <p:nvPr/>
        </p:nvSpPr>
        <p:spPr>
          <a:xfrm rot="5400000">
            <a:off x="4088935" y="5265674"/>
            <a:ext cx="278034" cy="56131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946024-7598-4E42-9404-93BF513D6D78}"/>
              </a:ext>
            </a:extLst>
          </p:cNvPr>
          <p:cNvSpPr/>
          <p:nvPr/>
        </p:nvSpPr>
        <p:spPr>
          <a:xfrm>
            <a:off x="9001125" y="5098656"/>
            <a:ext cx="895350" cy="895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A79D680-A972-4E9C-A87B-22E8BCEA01AD}"/>
              </a:ext>
            </a:extLst>
          </p:cNvPr>
          <p:cNvGrpSpPr/>
          <p:nvPr/>
        </p:nvGrpSpPr>
        <p:grpSpPr>
          <a:xfrm>
            <a:off x="9209265" y="5264577"/>
            <a:ext cx="496655" cy="496655"/>
            <a:chOff x="9218790" y="5315907"/>
            <a:chExt cx="496655" cy="49665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80F819A-B911-4341-A938-50C6A5FD833D}"/>
                </a:ext>
              </a:extLst>
            </p:cNvPr>
            <p:cNvSpPr/>
            <p:nvPr/>
          </p:nvSpPr>
          <p:spPr>
            <a:xfrm>
              <a:off x="9218790" y="5315907"/>
              <a:ext cx="496655" cy="49665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0314535-14A7-4E64-828C-3FEF7490E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9004" y="5443120"/>
              <a:ext cx="276225" cy="242228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C46B78-9282-4CC5-9450-630D08195059}"/>
              </a:ext>
            </a:extLst>
          </p:cNvPr>
          <p:cNvSpPr/>
          <p:nvPr/>
        </p:nvSpPr>
        <p:spPr>
          <a:xfrm>
            <a:off x="9982200" y="5098656"/>
            <a:ext cx="895350" cy="895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85BB06-5841-4038-8D6A-8C56C59C44FA}"/>
              </a:ext>
            </a:extLst>
          </p:cNvPr>
          <p:cNvSpPr/>
          <p:nvPr/>
        </p:nvSpPr>
        <p:spPr>
          <a:xfrm>
            <a:off x="10095035" y="5264577"/>
            <a:ext cx="687266" cy="496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73938A-02FB-4383-804B-1FF639414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554" y="5391790"/>
            <a:ext cx="276225" cy="2422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4F25F64-DC5E-4B6F-955D-FB30E0BC8EDC}"/>
              </a:ext>
            </a:extLst>
          </p:cNvPr>
          <p:cNvSpPr txBox="1"/>
          <p:nvPr/>
        </p:nvSpPr>
        <p:spPr>
          <a:xfrm>
            <a:off x="8641622" y="6123251"/>
            <a:ext cx="2565126" cy="296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큰 셀 안의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2x2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3x2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예시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8955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84DD7ED-D641-4048-B2DC-2FD2B03ECAF3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895FC-AD32-4677-B940-70D4BECD64E1}"/>
              </a:ext>
            </a:extLst>
          </p:cNvPr>
          <p:cNvSpPr txBox="1"/>
          <p:nvPr/>
        </p:nvSpPr>
        <p:spPr>
          <a:xfrm>
            <a:off x="840746" y="513168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타워 인벤토리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91E2A-0CA9-46D9-96A4-09EEBF073158}"/>
              </a:ext>
            </a:extLst>
          </p:cNvPr>
          <p:cNvSpPr txBox="1"/>
          <p:nvPr/>
        </p:nvSpPr>
        <p:spPr>
          <a:xfrm>
            <a:off x="745699" y="755794"/>
            <a:ext cx="3703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타워 인벤토리에 타워 추가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02B9B7-0673-455A-9825-85BDF795EF13}"/>
              </a:ext>
            </a:extLst>
          </p:cNvPr>
          <p:cNvSpPr/>
          <p:nvPr/>
        </p:nvSpPr>
        <p:spPr>
          <a:xfrm>
            <a:off x="901481" y="1543492"/>
            <a:ext cx="2557574" cy="454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AA58125-B584-46D9-981B-5C8EA3C7A3CE}"/>
              </a:ext>
            </a:extLst>
          </p:cNvPr>
          <p:cNvSpPr/>
          <p:nvPr/>
        </p:nvSpPr>
        <p:spPr>
          <a:xfrm>
            <a:off x="1002344" y="1619433"/>
            <a:ext cx="430657" cy="493079"/>
          </a:xfrm>
          <a:prstGeom prst="round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43DBACD-AD23-4B4A-A077-AD6755475068}"/>
              </a:ext>
            </a:extLst>
          </p:cNvPr>
          <p:cNvSpPr/>
          <p:nvPr/>
        </p:nvSpPr>
        <p:spPr>
          <a:xfrm>
            <a:off x="997662" y="2162330"/>
            <a:ext cx="430657" cy="533744"/>
          </a:xfrm>
          <a:prstGeom prst="round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8945CA2-9B85-4CA9-B025-10E28E2F7806}"/>
              </a:ext>
            </a:extLst>
          </p:cNvPr>
          <p:cNvSpPr/>
          <p:nvPr/>
        </p:nvSpPr>
        <p:spPr>
          <a:xfrm>
            <a:off x="2928420" y="1619433"/>
            <a:ext cx="430657" cy="219723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67BC76D-B046-4578-81E6-C848E64D90F8}"/>
              </a:ext>
            </a:extLst>
          </p:cNvPr>
          <p:cNvSpPr/>
          <p:nvPr/>
        </p:nvSpPr>
        <p:spPr>
          <a:xfrm>
            <a:off x="1964938" y="1619433"/>
            <a:ext cx="430657" cy="2197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B9584C9-BA41-4292-B8D6-4C482240C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9340" y="4804595"/>
            <a:ext cx="223412" cy="19591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90ED560-19DC-4FA9-B59B-56B791D45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950" y="3071404"/>
            <a:ext cx="223412" cy="19591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06860B9-B904-4F33-BA8C-743C19BA6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97" y="4131449"/>
            <a:ext cx="247730" cy="21724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DD9F038-A4CA-4F22-AFE0-92F685DD2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7" y="1627241"/>
            <a:ext cx="298293" cy="34938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E6EBF14-2DC6-4BF0-B903-7D034B17A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23" y="3549696"/>
            <a:ext cx="247730" cy="21724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E418AE6-9706-4D32-ADFA-937F06CAF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961" y="3789415"/>
            <a:ext cx="247730" cy="21724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144A832-4EC7-42FA-BAAB-85E1DB33F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3917" y="4416822"/>
            <a:ext cx="274025" cy="24029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C0BCFD2-E533-4E27-B9A2-3E9C71C49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42" y="2281964"/>
            <a:ext cx="247730" cy="21724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301A495-F9E7-4C2E-B1A1-0C49A9B7F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64" y="4894923"/>
            <a:ext cx="247730" cy="21724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D759AEC5-079E-4852-9A2C-1FB36E13D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97" y="2678388"/>
            <a:ext cx="247730" cy="21724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FDBEF927-F562-405E-AB83-8290B1378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82" y="3419848"/>
            <a:ext cx="385031" cy="450981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6CA66CDC-0191-4AFB-8E52-955C143331C0}"/>
              </a:ext>
            </a:extLst>
          </p:cNvPr>
          <p:cNvSpPr/>
          <p:nvPr/>
        </p:nvSpPr>
        <p:spPr>
          <a:xfrm>
            <a:off x="2349538" y="6175085"/>
            <a:ext cx="148465" cy="148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F56FFE-92CF-4A5D-BA80-E3E5CA530B8C}"/>
              </a:ext>
            </a:extLst>
          </p:cNvPr>
          <p:cNvSpPr txBox="1"/>
          <p:nvPr/>
        </p:nvSpPr>
        <p:spPr>
          <a:xfrm>
            <a:off x="2361565" y="6124867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BCB783F-11C5-45F4-A5D4-E3F85A85B9C7}"/>
              </a:ext>
            </a:extLst>
          </p:cNvPr>
          <p:cNvGrpSpPr/>
          <p:nvPr/>
        </p:nvGrpSpPr>
        <p:grpSpPr>
          <a:xfrm>
            <a:off x="907911" y="1539831"/>
            <a:ext cx="2557573" cy="59411"/>
            <a:chOff x="5645144" y="3140870"/>
            <a:chExt cx="249768" cy="1105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C6DEF72D-1663-4B02-9067-31BE84BC7F0B}"/>
                </a:ext>
              </a:extLst>
            </p:cNvPr>
            <p:cNvSpPr/>
            <p:nvPr/>
          </p:nvSpPr>
          <p:spPr>
            <a:xfrm>
              <a:off x="5645144" y="3140870"/>
              <a:ext cx="249768" cy="110534"/>
            </a:xfrm>
            <a:prstGeom prst="roundRect">
              <a:avLst/>
            </a:prstGeom>
            <a:solidFill>
              <a:srgbClr val="1A0C2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6EA87AF7-0EFF-42B9-B0BE-EEBB83D15926}"/>
                </a:ext>
              </a:extLst>
            </p:cNvPr>
            <p:cNvSpPr/>
            <p:nvPr/>
          </p:nvSpPr>
          <p:spPr>
            <a:xfrm>
              <a:off x="5645144" y="3140870"/>
              <a:ext cx="170235" cy="1105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4C9FC72-B791-4FE7-B49F-C89D4B7E7D94}"/>
              </a:ext>
            </a:extLst>
          </p:cNvPr>
          <p:cNvSpPr txBox="1"/>
          <p:nvPr/>
        </p:nvSpPr>
        <p:spPr>
          <a:xfrm>
            <a:off x="1070704" y="1924806"/>
            <a:ext cx="44114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Lv. 1</a:t>
            </a:r>
            <a:endParaRPr lang="ko-KR" altLang="en-US" sz="800" b="1" dirty="0">
              <a:solidFill>
                <a:schemeClr val="bg1"/>
              </a:solidFill>
              <a:effectLst>
                <a:glow rad="63500">
                  <a:schemeClr val="tx1"/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pic>
        <p:nvPicPr>
          <p:cNvPr id="41" name="Picture 2" descr="돋보기 - 무료 도구 및기구개 아이콘">
            <a:extLst>
              <a:ext uri="{FF2B5EF4-FFF2-40B4-BE49-F238E27FC236}">
                <a16:creationId xmlns:a16="http://schemas.microsoft.com/office/drawing/2014/main" id="{29E5C356-3EC2-4D80-A4D2-75BD3F8B4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5" y="1933945"/>
            <a:ext cx="182303" cy="18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67A26ACD-1057-4B8D-8CFA-EB47217D9036}"/>
              </a:ext>
            </a:extLst>
          </p:cNvPr>
          <p:cNvSpPr/>
          <p:nvPr/>
        </p:nvSpPr>
        <p:spPr>
          <a:xfrm>
            <a:off x="899378" y="6168507"/>
            <a:ext cx="148465" cy="148465"/>
          </a:xfrm>
          <a:prstGeom prst="rect">
            <a:avLst/>
          </a:prstGeom>
          <a:solidFill>
            <a:srgbClr val="EE77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14948A-3343-456B-8398-E5AEF90D363C}"/>
              </a:ext>
            </a:extLst>
          </p:cNvPr>
          <p:cNvSpPr txBox="1"/>
          <p:nvPr/>
        </p:nvSpPr>
        <p:spPr>
          <a:xfrm>
            <a:off x="1007733" y="6118289"/>
            <a:ext cx="122978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기름 현황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6E15B8A-038E-45B8-8035-BF6C1D4652EC}"/>
              </a:ext>
            </a:extLst>
          </p:cNvPr>
          <p:cNvSpPr/>
          <p:nvPr/>
        </p:nvSpPr>
        <p:spPr>
          <a:xfrm>
            <a:off x="899378" y="6359985"/>
            <a:ext cx="148465" cy="1484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0FBB5B-FCF8-47B6-A574-A8F55E6CE347}"/>
              </a:ext>
            </a:extLst>
          </p:cNvPr>
          <p:cNvSpPr txBox="1"/>
          <p:nvPr/>
        </p:nvSpPr>
        <p:spPr>
          <a:xfrm>
            <a:off x="1007733" y="6309768"/>
            <a:ext cx="19814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웨이브 진행도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9B09F71-7C1D-472B-A32F-BFD36C489E69}"/>
              </a:ext>
            </a:extLst>
          </p:cNvPr>
          <p:cNvSpPr/>
          <p:nvPr/>
        </p:nvSpPr>
        <p:spPr>
          <a:xfrm>
            <a:off x="899378" y="6551464"/>
            <a:ext cx="148465" cy="1484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43E45C-F290-494D-8A63-15FD87D6F90A}"/>
              </a:ext>
            </a:extLst>
          </p:cNvPr>
          <p:cNvSpPr txBox="1"/>
          <p:nvPr/>
        </p:nvSpPr>
        <p:spPr>
          <a:xfrm>
            <a:off x="1007733" y="6501247"/>
            <a:ext cx="158914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배속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일시정지 버튼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319B1F2-6BA6-4B2A-BEE9-CCEAD4DBD8B1}"/>
              </a:ext>
            </a:extLst>
          </p:cNvPr>
          <p:cNvGrpSpPr/>
          <p:nvPr/>
        </p:nvGrpSpPr>
        <p:grpSpPr>
          <a:xfrm>
            <a:off x="911557" y="5223651"/>
            <a:ext cx="2498735" cy="817215"/>
            <a:chOff x="4587404" y="4396748"/>
            <a:chExt cx="2498735" cy="817215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FDADC5FB-D338-4BBD-95F1-1D7E92CEBFD5}"/>
                </a:ext>
              </a:extLst>
            </p:cNvPr>
            <p:cNvSpPr/>
            <p:nvPr/>
          </p:nvSpPr>
          <p:spPr>
            <a:xfrm>
              <a:off x="4614109" y="4487767"/>
              <a:ext cx="2472030" cy="726196"/>
            </a:xfrm>
            <a:prstGeom prst="roundRect">
              <a:avLst>
                <a:gd name="adj" fmla="val 678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28EBA72F-AA0D-460B-AC90-AF6A495A2AFA}"/>
                </a:ext>
              </a:extLst>
            </p:cNvPr>
            <p:cNvSpPr/>
            <p:nvPr/>
          </p:nvSpPr>
          <p:spPr>
            <a:xfrm>
              <a:off x="4614109" y="4480486"/>
              <a:ext cx="2472030" cy="201836"/>
            </a:xfrm>
            <a:prstGeom prst="roundRect">
              <a:avLst>
                <a:gd name="adj" fmla="val 6787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27ED72B-101E-4A62-A191-486C4F006310}"/>
                </a:ext>
              </a:extLst>
            </p:cNvPr>
            <p:cNvSpPr/>
            <p:nvPr/>
          </p:nvSpPr>
          <p:spPr>
            <a:xfrm>
              <a:off x="5077927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9A7B5A39-59F2-4FE6-8BEF-2FE9D4F2BCEC}"/>
                </a:ext>
              </a:extLst>
            </p:cNvPr>
            <p:cNvGrpSpPr/>
            <p:nvPr/>
          </p:nvGrpSpPr>
          <p:grpSpPr>
            <a:xfrm>
              <a:off x="5166700" y="4835822"/>
              <a:ext cx="238478" cy="233355"/>
              <a:chOff x="10356957" y="4935575"/>
              <a:chExt cx="321867" cy="314954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1BB13D9B-39B6-4152-BD73-15FEEB1C76EB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A2923CF5-0C61-4228-B6FD-BB199FD2298A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03911C96-D61A-4CFF-81BC-91B63840C45C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1EF3ABD6-3F7B-4BEF-954B-D07C2C3108CE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177F3F38-8586-4548-943D-7E8E019DF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4883901"/>
              <a:ext cx="157615" cy="138217"/>
            </a:xfrm>
            <a:prstGeom prst="rect">
              <a:avLst/>
            </a:prstGeom>
          </p:spPr>
        </p:pic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19155ADF-26DF-46ED-A282-D66B788DE2A4}"/>
                </a:ext>
              </a:extLst>
            </p:cNvPr>
            <p:cNvSpPr/>
            <p:nvPr/>
          </p:nvSpPr>
          <p:spPr>
            <a:xfrm>
              <a:off x="5563079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D09B15E1-3388-4A1E-A484-FB74BD08BD4F}"/>
                </a:ext>
              </a:extLst>
            </p:cNvPr>
            <p:cNvGrpSpPr/>
            <p:nvPr/>
          </p:nvGrpSpPr>
          <p:grpSpPr>
            <a:xfrm>
              <a:off x="5651852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EAED92C8-0114-4C41-A3A4-4A213F117FFD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8CF2CD8C-0F68-48D3-AC83-4B20CB9C6387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7224BF94-42B4-43BB-A4D4-F39D3301CF31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1F5C1ABC-AD1B-491C-8BEF-1334483CEB66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64D6A1FD-0EAB-4C6C-8C03-F41D945E3F7F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3A4E5B01-429C-4B47-8CCD-922C0D919335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63763918-6F3B-4BB7-845A-6A6ACF47D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014" y="4855380"/>
              <a:ext cx="157615" cy="138217"/>
            </a:xfrm>
            <a:prstGeom prst="rect">
              <a:avLst/>
            </a:prstGeom>
          </p:spPr>
        </p:pic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909BC0A6-F074-4A17-99C5-F072E752FAEB}"/>
                </a:ext>
              </a:extLst>
            </p:cNvPr>
            <p:cNvSpPr/>
            <p:nvPr/>
          </p:nvSpPr>
          <p:spPr>
            <a:xfrm>
              <a:off x="6048231" y="4729525"/>
              <a:ext cx="417597" cy="439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782E2C26-7D9E-4609-8E9B-5A216ACBFE72}"/>
                </a:ext>
              </a:extLst>
            </p:cNvPr>
            <p:cNvGrpSpPr/>
            <p:nvPr/>
          </p:nvGrpSpPr>
          <p:grpSpPr>
            <a:xfrm>
              <a:off x="6137004" y="4771432"/>
              <a:ext cx="238478" cy="352727"/>
              <a:chOff x="10356957" y="4774461"/>
              <a:chExt cx="321867" cy="476068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F0C416D9-46F0-4A3E-9D4C-2AA3A4F295AC}"/>
                  </a:ext>
                </a:extLst>
              </p:cNvPr>
              <p:cNvSpPr/>
              <p:nvPr/>
            </p:nvSpPr>
            <p:spPr>
              <a:xfrm>
                <a:off x="10356958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4D1B2372-9569-4A54-A01A-DDB641A7C5F5}"/>
                  </a:ext>
                </a:extLst>
              </p:cNvPr>
              <p:cNvSpPr/>
              <p:nvPr/>
            </p:nvSpPr>
            <p:spPr>
              <a:xfrm>
                <a:off x="10516581" y="4935575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5DE3F4E1-4CED-4FC8-AC62-208D62CEF735}"/>
                  </a:ext>
                </a:extLst>
              </p:cNvPr>
              <p:cNvSpPr/>
              <p:nvPr/>
            </p:nvSpPr>
            <p:spPr>
              <a:xfrm>
                <a:off x="10516581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23199174-D764-4102-B568-750716B96B98}"/>
                  </a:ext>
                </a:extLst>
              </p:cNvPr>
              <p:cNvSpPr/>
              <p:nvPr/>
            </p:nvSpPr>
            <p:spPr>
              <a:xfrm>
                <a:off x="10356957" y="5088286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2B817B6A-A876-4ADA-862A-DF6DB74CAA9E}"/>
                  </a:ext>
                </a:extLst>
              </p:cNvPr>
              <p:cNvSpPr/>
              <p:nvPr/>
            </p:nvSpPr>
            <p:spPr>
              <a:xfrm>
                <a:off x="10356958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11866810-FCB7-49F4-8B9C-1127B52A8ECE}"/>
                  </a:ext>
                </a:extLst>
              </p:cNvPr>
              <p:cNvSpPr/>
              <p:nvPr/>
            </p:nvSpPr>
            <p:spPr>
              <a:xfrm>
                <a:off x="10516581" y="4774461"/>
                <a:ext cx="162243" cy="1622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24EC213F-BFE2-4F74-8FD0-325733789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166" y="4855380"/>
              <a:ext cx="157615" cy="138217"/>
            </a:xfrm>
            <a:prstGeom prst="rect">
              <a:avLst/>
            </a:prstGeom>
          </p:spPr>
        </p:pic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9EB2EF6A-DC92-4946-B163-11501A63D1FE}"/>
                </a:ext>
              </a:extLst>
            </p:cNvPr>
            <p:cNvSpPr/>
            <p:nvPr/>
          </p:nvSpPr>
          <p:spPr>
            <a:xfrm>
              <a:off x="4730790" y="4477414"/>
              <a:ext cx="1992740" cy="184832"/>
            </a:xfrm>
            <a:prstGeom prst="roundRect">
              <a:avLst>
                <a:gd name="adj" fmla="val 6787"/>
              </a:avLst>
            </a:prstGeom>
            <a:solidFill>
              <a:srgbClr val="00D2F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D51A5F6-ED21-41D8-AAAD-73B400D271E8}"/>
                </a:ext>
              </a:extLst>
            </p:cNvPr>
            <p:cNvSpPr txBox="1"/>
            <p:nvPr/>
          </p:nvSpPr>
          <p:spPr>
            <a:xfrm>
              <a:off x="5658843" y="443157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ffectLst>
                    <a:glow rad="63500">
                      <a:schemeClr val="tx1"/>
                    </a:glow>
                  </a:effectLst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90%</a:t>
              </a:r>
              <a:endParaRPr lang="ko-KR" altLang="en-US" sz="1200" b="1" dirty="0">
                <a:solidFill>
                  <a:schemeClr val="bg1"/>
                </a:solidFill>
                <a:effectLst>
                  <a:glow rad="63500">
                    <a:schemeClr val="tx1"/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FB258C45-3BBD-4D28-B3DA-CE7BE7DE5930}"/>
                </a:ext>
              </a:extLst>
            </p:cNvPr>
            <p:cNvGrpSpPr/>
            <p:nvPr/>
          </p:nvGrpSpPr>
          <p:grpSpPr>
            <a:xfrm>
              <a:off x="4587404" y="4396748"/>
              <a:ext cx="330766" cy="330766"/>
              <a:chOff x="3782121" y="3757226"/>
              <a:chExt cx="1094680" cy="1094680"/>
            </a:xfrm>
          </p:grpSpPr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F025B95E-3177-4EA0-BAD0-C8D1515A0938}"/>
                  </a:ext>
                </a:extLst>
              </p:cNvPr>
              <p:cNvSpPr/>
              <p:nvPr/>
            </p:nvSpPr>
            <p:spPr>
              <a:xfrm>
                <a:off x="3782121" y="3757226"/>
                <a:ext cx="1094680" cy="1094680"/>
              </a:xfrm>
              <a:prstGeom prst="roundRect">
                <a:avLst>
                  <a:gd name="adj" fmla="val 439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64" name="Picture 12">
                <a:extLst>
                  <a:ext uri="{FF2B5EF4-FFF2-40B4-BE49-F238E27FC236}">
                    <a16:creationId xmlns:a16="http://schemas.microsoft.com/office/drawing/2014/main" id="{F6BD082E-2D3C-4E5F-95C2-ABC0ADFB02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2492" y="3768673"/>
                <a:ext cx="998443" cy="998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99F6053F-6D61-45A7-9805-49D45DF73851}"/>
              </a:ext>
            </a:extLst>
          </p:cNvPr>
          <p:cNvSpPr txBox="1"/>
          <p:nvPr/>
        </p:nvSpPr>
        <p:spPr>
          <a:xfrm>
            <a:off x="4751166" y="1729294"/>
            <a:ext cx="3530134" cy="887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현재 구현된 부분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범부를 치면 타워 게이지 상승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게이지가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100%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에 도달하면 영웅 타워 추가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F9E8F0-BFDA-41F9-8703-EEBA6D8BD97F}"/>
              </a:ext>
            </a:extLst>
          </p:cNvPr>
          <p:cNvSpPr txBox="1"/>
          <p:nvPr/>
        </p:nvSpPr>
        <p:spPr>
          <a:xfrm>
            <a:off x="4751166" y="3267320"/>
            <a:ext cx="5742598" cy="887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구현하고자 하는 부분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게이지가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100%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에 도달하면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테이블 데이터를 기반으로 랜덤 타워 추가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인벤토리에서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테이블 데이터를 기반으로 타워 정보 표시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이미지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레벨 등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7790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84DD7ED-D641-4048-B2DC-2FD2B03ECAF3}"/>
              </a:ext>
            </a:extLst>
          </p:cNvPr>
          <p:cNvSpPr/>
          <p:nvPr/>
        </p:nvSpPr>
        <p:spPr>
          <a:xfrm>
            <a:off x="859795" y="561040"/>
            <a:ext cx="45719" cy="212031"/>
          </a:xfrm>
          <a:prstGeom prst="rect">
            <a:avLst/>
          </a:prstGeom>
          <a:solidFill>
            <a:srgbClr val="1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895FC-AD32-4677-B940-70D4BECD64E1}"/>
              </a:ext>
            </a:extLst>
          </p:cNvPr>
          <p:cNvSpPr txBox="1"/>
          <p:nvPr/>
        </p:nvSpPr>
        <p:spPr>
          <a:xfrm>
            <a:off x="840746" y="513168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</a:t>
            </a:r>
            <a:r>
              <a:rPr lang="ko-KR" altLang="en-US" sz="1400" b="1" dirty="0">
                <a:solidFill>
                  <a:srgbClr val="1A0C2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타워 인벤토리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91E2A-0CA9-46D9-96A4-09EEBF073158}"/>
              </a:ext>
            </a:extLst>
          </p:cNvPr>
          <p:cNvSpPr txBox="1"/>
          <p:nvPr/>
        </p:nvSpPr>
        <p:spPr>
          <a:xfrm>
            <a:off x="745699" y="755794"/>
            <a:ext cx="3703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1A0C2F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타워 인벤토리에 타워 추가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753DBB7-DDEE-4EB2-B66E-C7039457F3D6}"/>
              </a:ext>
            </a:extLst>
          </p:cNvPr>
          <p:cNvSpPr txBox="1"/>
          <p:nvPr/>
        </p:nvSpPr>
        <p:spPr>
          <a:xfrm>
            <a:off x="745699" y="1729294"/>
            <a:ext cx="9875845" cy="155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기능 요약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Hero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테이블에서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유저가 장착한 영웅들의 태그 값 조회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(TableHeroTower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컬럼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HeroTower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시트에서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태그가 일치하는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Key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들의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Rate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를 합산하고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그 중 하나를 랜덤으로 뽑음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뽑은 타워는 타워 인벤토리에 추가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(</a:t>
            </a:r>
            <a:r>
              <a:rPr lang="en-US" altLang="ko-KR" sz="1200" dirty="0">
                <a:solidFill>
                  <a:srgbClr val="0070C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HeroInfoCell_Example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프리팹으로 셀 표시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목록은 중앙 정렬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가로 스크롤뷰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작업 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_Example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제거 필요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)</a:t>
            </a: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en-US" altLang="ko-KR" sz="1200" dirty="0">
                <a:solidFill>
                  <a:srgbClr val="0070C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HeroInfoCell_Example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프리팹에서 표시할 타워 이미지는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HeroTower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시트의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ThumbnailAddr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을 출력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defTabSz="180000"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-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타워의 레벨은 셀 프리팹에서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txt_level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를 통해 표시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(Local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테이블의 리치텍스트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Key: format_tower_level)</a:t>
            </a: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86F055F9-55DB-415F-9CE2-D8D5054D4692}"/>
              </a:ext>
            </a:extLst>
          </p:cNvPr>
          <p:cNvSpPr/>
          <p:nvPr/>
        </p:nvSpPr>
        <p:spPr>
          <a:xfrm>
            <a:off x="859795" y="4294757"/>
            <a:ext cx="1866901" cy="485775"/>
          </a:xfrm>
          <a:prstGeom prst="roundRect">
            <a:avLst>
              <a:gd name="adj" fmla="val 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6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Hero </a:t>
            </a:r>
            <a:r>
              <a:rPr lang="ko-KR" altLang="en-US" sz="16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테이블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E930DCC5-513E-4925-BF5C-0E265C1393B1}"/>
              </a:ext>
            </a:extLst>
          </p:cNvPr>
          <p:cNvSpPr/>
          <p:nvPr/>
        </p:nvSpPr>
        <p:spPr>
          <a:xfrm>
            <a:off x="859795" y="4780532"/>
            <a:ext cx="1866901" cy="485775"/>
          </a:xfrm>
          <a:prstGeom prst="roundRect">
            <a:avLst>
              <a:gd name="adj" fmla="val 0"/>
            </a:avLst>
          </a:prstGeom>
          <a:solidFill>
            <a:srgbClr val="00206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dirty="0">
                <a:solidFill>
                  <a:srgbClr val="002060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TableHeroTower </a:t>
            </a:r>
            <a:r>
              <a:rPr lang="ko-KR" altLang="en-US" sz="1200" dirty="0">
                <a:solidFill>
                  <a:srgbClr val="002060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컬럼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9D4B3EB4-AEBE-41A2-A569-79899CC91198}"/>
              </a:ext>
            </a:extLst>
          </p:cNvPr>
          <p:cNvSpPr/>
          <p:nvPr/>
        </p:nvSpPr>
        <p:spPr>
          <a:xfrm>
            <a:off x="3774445" y="4294757"/>
            <a:ext cx="1866901" cy="485775"/>
          </a:xfrm>
          <a:prstGeom prst="roundRect">
            <a:avLst>
              <a:gd name="adj" fmla="val 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6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HeroTower </a:t>
            </a:r>
            <a:r>
              <a:rPr lang="ko-KR" altLang="en-US" sz="16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시트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F4D6AECA-0CD1-4363-8C2B-6A1D6F1C2B04}"/>
              </a:ext>
            </a:extLst>
          </p:cNvPr>
          <p:cNvSpPr/>
          <p:nvPr/>
        </p:nvSpPr>
        <p:spPr>
          <a:xfrm>
            <a:off x="3774445" y="4780532"/>
            <a:ext cx="1866901" cy="485775"/>
          </a:xfrm>
          <a:prstGeom prst="roundRect">
            <a:avLst>
              <a:gd name="adj" fmla="val 0"/>
            </a:avLst>
          </a:prstGeom>
          <a:solidFill>
            <a:srgbClr val="00206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dirty="0">
                <a:solidFill>
                  <a:srgbClr val="002060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Tag </a:t>
            </a:r>
            <a:r>
              <a:rPr lang="ko-KR" altLang="en-US" sz="1200" dirty="0">
                <a:solidFill>
                  <a:srgbClr val="002060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컬럼</a:t>
            </a:r>
          </a:p>
        </p:txBody>
      </p: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E693D16B-D3E6-4C3F-97F6-C058F3E69C66}"/>
              </a:ext>
            </a:extLst>
          </p:cNvPr>
          <p:cNvCxnSpPr/>
          <p:nvPr/>
        </p:nvCxnSpPr>
        <p:spPr>
          <a:xfrm>
            <a:off x="2726696" y="5023420"/>
            <a:ext cx="1047749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968FC7EA-3FEF-4BD9-85E6-E4F1001BC97A}"/>
              </a:ext>
            </a:extLst>
          </p:cNvPr>
          <p:cNvSpPr/>
          <p:nvPr/>
        </p:nvSpPr>
        <p:spPr>
          <a:xfrm>
            <a:off x="3774445" y="5266307"/>
            <a:ext cx="1866901" cy="485775"/>
          </a:xfrm>
          <a:prstGeom prst="roundRect">
            <a:avLst>
              <a:gd name="adj" fmla="val 0"/>
            </a:avLst>
          </a:prstGeom>
          <a:solidFill>
            <a:srgbClr val="00206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dirty="0">
                <a:solidFill>
                  <a:srgbClr val="002060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 Rate </a:t>
            </a:r>
            <a:r>
              <a:rPr lang="ko-KR" altLang="en-US" sz="1200" dirty="0">
                <a:solidFill>
                  <a:srgbClr val="002060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컬럼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3CC33F5-BE7E-432A-A85E-755BEE15FF89}"/>
              </a:ext>
            </a:extLst>
          </p:cNvPr>
          <p:cNvSpPr txBox="1"/>
          <p:nvPr/>
        </p:nvSpPr>
        <p:spPr>
          <a:xfrm>
            <a:off x="745699" y="3832418"/>
            <a:ext cx="1686680" cy="365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테이블 구조 예시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9B1619C-F0D0-4890-9DF3-3A6737DF47FD}"/>
              </a:ext>
            </a:extLst>
          </p:cNvPr>
          <p:cNvSpPr txBox="1"/>
          <p:nvPr/>
        </p:nvSpPr>
        <p:spPr>
          <a:xfrm>
            <a:off x="5966076" y="4889136"/>
            <a:ext cx="1446037" cy="7401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일치한 태그의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Rate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들을 합산하고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그 중 하나를 뽑음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0A703B37-B453-4D7B-A090-4AF3951F14AE}"/>
              </a:ext>
            </a:extLst>
          </p:cNvPr>
          <p:cNvSpPr/>
          <p:nvPr/>
        </p:nvSpPr>
        <p:spPr>
          <a:xfrm>
            <a:off x="3774445" y="5752080"/>
            <a:ext cx="1866901" cy="485775"/>
          </a:xfrm>
          <a:prstGeom prst="roundRect">
            <a:avLst>
              <a:gd name="adj" fmla="val 0"/>
            </a:avLst>
          </a:prstGeom>
          <a:solidFill>
            <a:srgbClr val="00206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dirty="0">
                <a:solidFill>
                  <a:srgbClr val="002060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 ThumbnailAddr </a:t>
            </a:r>
            <a:r>
              <a:rPr lang="ko-KR" altLang="en-US" sz="1200" dirty="0">
                <a:solidFill>
                  <a:srgbClr val="002060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컬럼</a:t>
            </a:r>
          </a:p>
        </p:txBody>
      </p:sp>
      <p:sp>
        <p:nvSpPr>
          <p:cNvPr id="200" name="오른쪽 중괄호 199">
            <a:extLst>
              <a:ext uri="{FF2B5EF4-FFF2-40B4-BE49-F238E27FC236}">
                <a16:creationId xmlns:a16="http://schemas.microsoft.com/office/drawing/2014/main" id="{8C608400-44DB-418B-8893-8C0C01189202}"/>
              </a:ext>
            </a:extLst>
          </p:cNvPr>
          <p:cNvSpPr/>
          <p:nvPr/>
        </p:nvSpPr>
        <p:spPr>
          <a:xfrm>
            <a:off x="5698496" y="4932098"/>
            <a:ext cx="140329" cy="697177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6CE51F10-B02C-43CC-A240-0231DF6D8E03}"/>
              </a:ext>
            </a:extLst>
          </p:cNvPr>
          <p:cNvSpPr txBox="1"/>
          <p:nvPr/>
        </p:nvSpPr>
        <p:spPr>
          <a:xfrm>
            <a:off x="5966076" y="5860596"/>
            <a:ext cx="2871299" cy="296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타워 인벤토리에서 표시할 썸네일 프리팹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202" name="오른쪽 중괄호 201">
            <a:extLst>
              <a:ext uri="{FF2B5EF4-FFF2-40B4-BE49-F238E27FC236}">
                <a16:creationId xmlns:a16="http://schemas.microsoft.com/office/drawing/2014/main" id="{16DED438-70DB-425A-8873-DBE3B1DBBDB1}"/>
              </a:ext>
            </a:extLst>
          </p:cNvPr>
          <p:cNvSpPr/>
          <p:nvPr/>
        </p:nvSpPr>
        <p:spPr>
          <a:xfrm>
            <a:off x="5698496" y="5846497"/>
            <a:ext cx="140329" cy="332848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285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301</Words>
  <Application>Microsoft Office PowerPoint</Application>
  <PresentationFormat>와이드스크린</PresentationFormat>
  <Paragraphs>51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에스코어 드림 3 Light</vt:lpstr>
      <vt:lpstr>에스코어 드림 5 Medium</vt:lpstr>
      <vt:lpstr>에스코어 드림 7 ExtraBold</vt:lpstr>
      <vt:lpstr>에스코어 드림 9 Black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박준병</dc:creator>
  <cp:lastModifiedBy>박준병</cp:lastModifiedBy>
  <cp:revision>97</cp:revision>
  <dcterms:created xsi:type="dcterms:W3CDTF">2025-04-24T14:22:53Z</dcterms:created>
  <dcterms:modified xsi:type="dcterms:W3CDTF">2025-04-24T20:06:45Z</dcterms:modified>
</cp:coreProperties>
</file>