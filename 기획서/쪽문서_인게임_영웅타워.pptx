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  <p:sldId id="259" r:id="rId5"/>
    <p:sldId id="262" r:id="rId6"/>
    <p:sldId id="264" r:id="rId7"/>
    <p:sldId id="265" r:id="rId8"/>
    <p:sldId id="268" r:id="rId9"/>
    <p:sldId id="271" r:id="rId10"/>
    <p:sldId id="266" r:id="rId11"/>
    <p:sldId id="274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박준병" initials="박" lastIdx="1" clrIdx="0">
    <p:extLst>
      <p:ext uri="{19B8F6BF-5375-455C-9EA6-DF929625EA0E}">
        <p15:presenceInfo xmlns:p15="http://schemas.microsoft.com/office/powerpoint/2012/main" userId="박준병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7700"/>
    <a:srgbClr val="00D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138" y="312"/>
      </p:cViewPr>
      <p:guideLst>
        <p:guide orient="horz" pos="30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8683B-2362-4E76-AEBA-565213346A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076B9A-E918-4707-BFD2-E7DE704B6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0C8180-B6E2-44B4-A1D0-EAE1B49A4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49AE4F-2618-48D2-9040-076995E9C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FD3B9D-F1FD-4DBE-A00D-F9C9489E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86926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07A49B-2EF5-48DF-AE7E-C3B1BA3D6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52B301-0896-43ED-8CE1-CED787D54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51958E-FCF5-4894-86C7-57FB00E9E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1FA2CD-0B89-418A-A80F-1D87E71D3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4A09BD-78C0-4C6C-9580-5F16F57F9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2232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DFEBB0-7F57-41F8-A024-B64CB8B6B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CAF56D0-DE27-4D9A-9B8B-0377EE0E2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A7D4E9-3113-4FD2-8332-A082875CD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3014A5-473F-4001-A9EA-761536880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429EF3-72B6-4720-8ABF-FF3EA40F5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789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3A5F66-0465-400A-A58C-4D9D1AADF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73A172-C471-43C5-B5B7-85779A160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DB2477-F164-412E-A522-7CB516792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AB3AEDC-BDDC-4498-9195-8FC8B8E60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B13AE2D-B13B-44C9-830F-0E4D7E267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4CE156-C139-4FE9-9F90-E0C2F8343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5298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E252C-8F11-45E8-A1C0-731E6EB42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06C1EE-AD36-4384-B526-256C8406FF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7550BAA-9402-404C-9819-E0440950D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C828FED-BD30-402D-A718-B2E83275F2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BC62E19-F6A5-4717-8FC1-BCC7EBD4A1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F4D8BD4-37B6-40DD-A6BA-4A5285FFD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155351F-4CCE-44C1-9BE4-E955313B1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4487AB6-C542-494D-B186-6A836B711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3440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88C518-8E83-42C9-85D6-3950911EA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98BEFFD-378A-41A2-A39B-06B5E329C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756196-40B5-41A4-8F10-5B3DFBF67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B123C45-519D-4E85-963A-6F3D7DD86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100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3B716C2-D848-42AD-9BCE-1A4DA9B49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5D0E36C-34EB-48A0-A421-7E92938B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ED5D52-5607-4E9E-B291-35AF67750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273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84168A-CD1A-4E7A-9953-A1700A05A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71AFB2-11BA-4AC6-B382-ABB149779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2F479C7-64C7-4F5E-A5A3-C7C2392995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C96F28-29CE-455C-BFBB-0AFB269C5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F898D81-2C20-4B48-89F2-E7C39A402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5C3403C-46EA-4CEB-8C54-E5BC051E2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195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8E9831-C1FE-4299-BB21-9089A61CED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E18A934-DA92-4028-8474-EAF8A54469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FD2E5F-8930-4817-8675-169265C28C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470AE5-F059-40D3-9E4C-9E1A9D4A0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142464-AC15-4DCC-82D1-978492038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40F2D91-C8ED-48E2-B9E6-3368F9BA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2386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282E3A-6879-4853-A394-B682BF1BC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049ECCF-E232-4BD5-89E4-62F50F6A2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0B8623-655C-4C3A-8594-4473395D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77F9B0-1AD9-430D-9AAD-255CF58A1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F86646-E485-4E10-9AF1-B982020AF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7177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B4E4507-7858-422B-BAF7-CF5923E963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997DF0E-BC8F-446D-ADE8-4DC1FE579E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948475-E240-491A-A817-332704181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FD9D36-2649-4A58-BDB5-7BB9A2AAA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CFEBE2-F62A-48AE-8467-991F92706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2716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9593047-1BFA-47B5-A4A2-972AA193D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EA64A4-7507-4235-B43E-307BF84118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DDDC50-9822-4653-A9F8-755876A735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5F5A59-4C58-44DB-986A-66764A921BDF}" type="datetimeFigureOut">
              <a:rPr lang="ko-KR" altLang="en-US" smtClean="0"/>
              <a:t>2025-05-20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A8091DC-3ECD-45AD-8A88-90BC585943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FAEF36-EFDC-4269-8009-AA8E8D5CFB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A926D4-1955-4CA3-8AD2-E036F42016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8344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8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microsoft.com/office/2007/relationships/hdphoto" Target="../media/hdphoto1.wdp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7.pn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microsoft.com/office/2007/relationships/hdphoto" Target="../media/hdphoto1.wdp"/><Relationship Id="rId9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D605FA-0986-4426-943A-407FB8E51E9D}"/>
              </a:ext>
            </a:extLst>
          </p:cNvPr>
          <p:cNvSpPr txBox="1"/>
          <p:nvPr/>
        </p:nvSpPr>
        <p:spPr>
          <a:xfrm>
            <a:off x="3874880" y="2032144"/>
            <a:ext cx="44422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6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타워 인벤토리 쪽문서</a:t>
            </a:r>
          </a:p>
        </p:txBody>
      </p:sp>
    </p:spTree>
    <p:extLst>
      <p:ext uri="{BB962C8B-B14F-4D97-AF65-F5344CB8AC3E}">
        <p14:creationId xmlns:p14="http://schemas.microsoft.com/office/powerpoint/2010/main" val="3527118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8313620-6EC6-4086-B8AA-5A3E4D8B507F}"/>
              </a:ext>
            </a:extLst>
          </p:cNvPr>
          <p:cNvSpPr txBox="1"/>
          <p:nvPr/>
        </p:nvSpPr>
        <p:spPr>
          <a:xfrm>
            <a:off x="5029042" y="663576"/>
            <a:ext cx="21339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b="1" dirty="0"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문서 수정 내역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CEEF15E-59B2-4B4B-99AB-16D897A76C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6630815"/>
              </p:ext>
            </p:extLst>
          </p:nvPr>
        </p:nvGraphicFramePr>
        <p:xfrm>
          <a:off x="714376" y="1470597"/>
          <a:ext cx="10763248" cy="425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169">
                  <a:extLst>
                    <a:ext uri="{9D8B030D-6E8A-4147-A177-3AD203B41FA5}">
                      <a16:colId xmlns:a16="http://schemas.microsoft.com/office/drawing/2014/main" val="4084353122"/>
                    </a:ext>
                  </a:extLst>
                </a:gridCol>
                <a:gridCol w="6357044">
                  <a:extLst>
                    <a:ext uri="{9D8B030D-6E8A-4147-A177-3AD203B41FA5}">
                      <a16:colId xmlns:a16="http://schemas.microsoft.com/office/drawing/2014/main" val="10204353"/>
                    </a:ext>
                  </a:extLst>
                </a:gridCol>
                <a:gridCol w="2140035">
                  <a:extLst>
                    <a:ext uri="{9D8B030D-6E8A-4147-A177-3AD203B41FA5}">
                      <a16:colId xmlns:a16="http://schemas.microsoft.com/office/drawing/2014/main" val="32508408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에스코어 드림 7 ExtraBold" panose="020B0803030302020204" pitchFamily="34" charset="-127"/>
                          <a:ea typeface="에스코어 드림 7 ExtraBold" panose="020B0803030302020204" pitchFamily="34" charset="-127"/>
                        </a:rPr>
                        <a:t>날짜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에스코어 드림 7 ExtraBold" panose="020B0803030302020204" pitchFamily="34" charset="-127"/>
                          <a:ea typeface="에스코어 드림 7 ExtraBold" panose="020B0803030302020204" pitchFamily="34" charset="-127"/>
                        </a:rPr>
                        <a:t>수정 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에스코어 드림 7 ExtraBold" panose="020B0803030302020204" pitchFamily="34" charset="-127"/>
                          <a:ea typeface="에스코어 드림 7 ExtraBold" panose="020B0803030302020204" pitchFamily="34" charset="-127"/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825127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2025. 04. 24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문서 최초 공유</a:t>
                      </a:r>
                      <a:endParaRPr lang="en-US" altLang="ko-KR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272309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2025. 05. 21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</a:rPr>
                        <a:t>영웅 타워 설치 추가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이동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: Ctrl+</a:t>
                      </a:r>
                      <a:r>
                        <a:rPr lang="ko-KR" altLang="en-US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좌클릭</a:t>
                      </a:r>
                      <a:r>
                        <a:rPr lang="en-US" altLang="ko-KR" sz="1000" b="0" dirty="0">
                          <a:solidFill>
                            <a:schemeClr val="tx1"/>
                          </a:solidFill>
                          <a:latin typeface="에스코어 드림 3 Light" panose="020B0303030302020204" pitchFamily="34" charset="-127"/>
                          <a:ea typeface="에스코어 드림 3 Light" panose="020B0303030302020204" pitchFamily="34" charset="-127"/>
                          <a:hlinkClick r:id="rId2" action="ppaction://hlinksldjump"/>
                        </a:rPr>
                        <a:t>)</a:t>
                      </a: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540462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en-US" altLang="ko-KR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369377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488364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90789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29817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78437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675128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409109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645255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648638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endParaRPr lang="ko-KR" altLang="en-US" sz="1000" b="0" dirty="0">
                        <a:solidFill>
                          <a:schemeClr val="tx1"/>
                        </a:solidFill>
                        <a:latin typeface="에스코어 드림 3 Light" panose="020B0303030302020204" pitchFamily="34" charset="-127"/>
                        <a:ea typeface="에스코어 드림 3 Light" panose="020B0303030302020204" pitchFamily="34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20461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615756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FD6BA0B-CE84-4FDC-AACE-67EB18A5A2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2724" b="-412"/>
          <a:stretch/>
        </p:blipFill>
        <p:spPr>
          <a:xfrm>
            <a:off x="840746" y="1972347"/>
            <a:ext cx="2745696" cy="412985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84DD7ED-D641-4048-B2DC-2FD2B03ECAF3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895FC-AD32-4677-B940-70D4BECD64E1}"/>
              </a:ext>
            </a:extLst>
          </p:cNvPr>
          <p:cNvSpPr txBox="1"/>
          <p:nvPr/>
        </p:nvSpPr>
        <p:spPr>
          <a:xfrm>
            <a:off x="840746" y="513168"/>
            <a:ext cx="1744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1-1.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레퍼런스 점검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91E2A-0CA9-46D9-96A4-09EEBF073158}"/>
              </a:ext>
            </a:extLst>
          </p:cNvPr>
          <p:cNvSpPr txBox="1"/>
          <p:nvPr/>
        </p:nvSpPr>
        <p:spPr>
          <a:xfrm>
            <a:off x="745699" y="755794"/>
            <a:ext cx="50257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영웅 변경 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UX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의 레퍼런스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: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언더 다크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C880CC-A57C-4064-872C-6D18EED040FD}"/>
              </a:ext>
            </a:extLst>
          </p:cNvPr>
          <p:cNvSpPr txBox="1"/>
          <p:nvPr/>
        </p:nvSpPr>
        <p:spPr>
          <a:xfrm>
            <a:off x="4751166" y="5208504"/>
            <a:ext cx="3413114" cy="11094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타워 인벤토리 레퍼런스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타워는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 / 3x2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 각자 사이즈가 있음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인벤토리에서는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큰 셀 안에 타워가 표시됨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덤으로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레벨 이상은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Lv.0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텍스트 표시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165D3376-B4CF-4C0D-8518-46E26DF26BC6}"/>
              </a:ext>
            </a:extLst>
          </p:cNvPr>
          <p:cNvSpPr/>
          <p:nvPr/>
        </p:nvSpPr>
        <p:spPr>
          <a:xfrm rot="5400000">
            <a:off x="4088935" y="5265674"/>
            <a:ext cx="278034" cy="561314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4946024-7598-4E42-9404-93BF513D6D78}"/>
              </a:ext>
            </a:extLst>
          </p:cNvPr>
          <p:cNvSpPr/>
          <p:nvPr/>
        </p:nvSpPr>
        <p:spPr>
          <a:xfrm>
            <a:off x="9001125" y="5098656"/>
            <a:ext cx="895350" cy="8953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A79D680-A972-4E9C-A87B-22E8BCEA01AD}"/>
              </a:ext>
            </a:extLst>
          </p:cNvPr>
          <p:cNvGrpSpPr/>
          <p:nvPr/>
        </p:nvGrpSpPr>
        <p:grpSpPr>
          <a:xfrm>
            <a:off x="9209265" y="5264577"/>
            <a:ext cx="496655" cy="496655"/>
            <a:chOff x="9218790" y="5315907"/>
            <a:chExt cx="496655" cy="496655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680F819A-B911-4341-A938-50C6A5FD833D}"/>
                </a:ext>
              </a:extLst>
            </p:cNvPr>
            <p:cNvSpPr/>
            <p:nvPr/>
          </p:nvSpPr>
          <p:spPr>
            <a:xfrm>
              <a:off x="9218790" y="5315907"/>
              <a:ext cx="496655" cy="49665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70314535-14A7-4E64-828C-3FEF7490E6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9004" y="5443120"/>
              <a:ext cx="276225" cy="242228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3C46B78-9282-4CC5-9450-630D08195059}"/>
              </a:ext>
            </a:extLst>
          </p:cNvPr>
          <p:cNvSpPr/>
          <p:nvPr/>
        </p:nvSpPr>
        <p:spPr>
          <a:xfrm>
            <a:off x="9982200" y="5098656"/>
            <a:ext cx="895350" cy="8953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85BB06-5841-4038-8D6A-8C56C59C44FA}"/>
              </a:ext>
            </a:extLst>
          </p:cNvPr>
          <p:cNvSpPr/>
          <p:nvPr/>
        </p:nvSpPr>
        <p:spPr>
          <a:xfrm>
            <a:off x="10095035" y="5264577"/>
            <a:ext cx="687266" cy="496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F73938A-02FB-4383-804B-1FF639414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0554" y="5391790"/>
            <a:ext cx="276225" cy="24222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4F25F64-DC5E-4B6F-955D-FB30E0BC8EDC}"/>
              </a:ext>
            </a:extLst>
          </p:cNvPr>
          <p:cNvSpPr txBox="1"/>
          <p:nvPr/>
        </p:nvSpPr>
        <p:spPr>
          <a:xfrm>
            <a:off x="8641622" y="6123251"/>
            <a:ext cx="2565126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큰 셀 안의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3x2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예시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8955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84DD7ED-D641-4048-B2DC-2FD2B03ECAF3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895FC-AD32-4677-B940-70D4BECD64E1}"/>
              </a:ext>
            </a:extLst>
          </p:cNvPr>
          <p:cNvSpPr txBox="1"/>
          <p:nvPr/>
        </p:nvSpPr>
        <p:spPr>
          <a:xfrm>
            <a:off x="840746" y="513168"/>
            <a:ext cx="1744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타워 인벤토리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91E2A-0CA9-46D9-96A4-09EEBF073158}"/>
              </a:ext>
            </a:extLst>
          </p:cNvPr>
          <p:cNvSpPr txBox="1"/>
          <p:nvPr/>
        </p:nvSpPr>
        <p:spPr>
          <a:xfrm>
            <a:off x="745699" y="755794"/>
            <a:ext cx="3703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타워 인벤토리에 타워 추가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402B9B7-0673-455A-9825-85BDF795EF13}"/>
              </a:ext>
            </a:extLst>
          </p:cNvPr>
          <p:cNvSpPr/>
          <p:nvPr/>
        </p:nvSpPr>
        <p:spPr>
          <a:xfrm>
            <a:off x="901481" y="1543492"/>
            <a:ext cx="2557574" cy="4546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FAA58125-B584-46D9-981B-5C8EA3C7A3CE}"/>
              </a:ext>
            </a:extLst>
          </p:cNvPr>
          <p:cNvSpPr/>
          <p:nvPr/>
        </p:nvSpPr>
        <p:spPr>
          <a:xfrm>
            <a:off x="1002344" y="1619433"/>
            <a:ext cx="430657" cy="493079"/>
          </a:xfrm>
          <a:prstGeom prst="roundRect">
            <a:avLst/>
          </a:prstGeom>
          <a:solidFill>
            <a:srgbClr val="00B0F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E43DBACD-AD23-4B4A-A077-AD6755475068}"/>
              </a:ext>
            </a:extLst>
          </p:cNvPr>
          <p:cNvSpPr/>
          <p:nvPr/>
        </p:nvSpPr>
        <p:spPr>
          <a:xfrm>
            <a:off x="997662" y="2162330"/>
            <a:ext cx="430657" cy="533744"/>
          </a:xfrm>
          <a:prstGeom prst="round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38945CA2-9B85-4CA9-B025-10E28E2F7806}"/>
              </a:ext>
            </a:extLst>
          </p:cNvPr>
          <p:cNvSpPr/>
          <p:nvPr/>
        </p:nvSpPr>
        <p:spPr>
          <a:xfrm>
            <a:off x="2928420" y="1619433"/>
            <a:ext cx="430657" cy="219723"/>
          </a:xfrm>
          <a:prstGeom prst="round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067BC76D-B046-4578-81E6-C848E64D90F8}"/>
              </a:ext>
            </a:extLst>
          </p:cNvPr>
          <p:cNvSpPr/>
          <p:nvPr/>
        </p:nvSpPr>
        <p:spPr>
          <a:xfrm>
            <a:off x="1964938" y="1619433"/>
            <a:ext cx="430657" cy="219723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7B9584C9-BA41-4292-B8D6-4C482240C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389340" y="4804595"/>
            <a:ext cx="223412" cy="195916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990ED560-19DC-4FA9-B59B-56B791D45A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950" y="3071404"/>
            <a:ext cx="223412" cy="195916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006860B9-B904-4F33-BA8C-743C19BA68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597" y="4131449"/>
            <a:ext cx="247730" cy="21724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9DD9F038-A4CA-4F22-AFE0-92F685DD2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527" y="1627241"/>
            <a:ext cx="298293" cy="349388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E6EBF14-2DC6-4BF0-B903-7D034B17A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23" y="3549696"/>
            <a:ext cx="247730" cy="21724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BE418AE6-9706-4D32-ADFA-937F06CAFA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7961" y="3789415"/>
            <a:ext cx="247730" cy="217240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9144A832-4EC7-42FA-BAAB-85E1DB33F4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1633917" y="4416822"/>
            <a:ext cx="274025" cy="24029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CC0BCFD2-E533-4E27-B9A2-3E9C71C494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4442" y="2281964"/>
            <a:ext cx="247730" cy="21724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4301A495-F9E7-4C2E-B1A1-0C49A9B7F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164" y="4894923"/>
            <a:ext cx="247730" cy="21724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D759AEC5-079E-4852-9A2C-1FB36E13D6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797" y="2678388"/>
            <a:ext cx="247730" cy="21724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DBEF927-F562-405E-AB83-8290B13783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982" y="3419848"/>
            <a:ext cx="385031" cy="450981"/>
          </a:xfrm>
          <a:prstGeom prst="rect">
            <a:avLst/>
          </a:prstGeom>
        </p:spPr>
      </p:pic>
      <p:sp>
        <p:nvSpPr>
          <p:cNvPr id="35" name="직사각형 34">
            <a:extLst>
              <a:ext uri="{FF2B5EF4-FFF2-40B4-BE49-F238E27FC236}">
                <a16:creationId xmlns:a16="http://schemas.microsoft.com/office/drawing/2014/main" id="{6CA66CDC-0191-4AFB-8E52-955C143331C0}"/>
              </a:ext>
            </a:extLst>
          </p:cNvPr>
          <p:cNvSpPr/>
          <p:nvPr/>
        </p:nvSpPr>
        <p:spPr>
          <a:xfrm>
            <a:off x="2349538" y="6175085"/>
            <a:ext cx="148465" cy="148465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F56FFE-92CF-4A5D-BA80-E3E5CA530B8C}"/>
              </a:ext>
            </a:extLst>
          </p:cNvPr>
          <p:cNvSpPr txBox="1"/>
          <p:nvPr/>
        </p:nvSpPr>
        <p:spPr>
          <a:xfrm>
            <a:off x="2361565" y="6124867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r"/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</a:t>
            </a: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5BCB783F-11C5-45F4-A5D4-E3F85A85B9C7}"/>
              </a:ext>
            </a:extLst>
          </p:cNvPr>
          <p:cNvGrpSpPr/>
          <p:nvPr/>
        </p:nvGrpSpPr>
        <p:grpSpPr>
          <a:xfrm>
            <a:off x="907911" y="1539831"/>
            <a:ext cx="2557573" cy="59411"/>
            <a:chOff x="5645144" y="3140870"/>
            <a:chExt cx="249768" cy="110534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C6DEF72D-1663-4B02-9067-31BE84BC7F0B}"/>
                </a:ext>
              </a:extLst>
            </p:cNvPr>
            <p:cNvSpPr/>
            <p:nvPr/>
          </p:nvSpPr>
          <p:spPr>
            <a:xfrm>
              <a:off x="5645144" y="3140870"/>
              <a:ext cx="249768" cy="110534"/>
            </a:xfrm>
            <a:prstGeom prst="roundRect">
              <a:avLst/>
            </a:prstGeom>
            <a:solidFill>
              <a:srgbClr val="1A0C2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6EA87AF7-0EFF-42B9-B0BE-EEBB83D15926}"/>
                </a:ext>
              </a:extLst>
            </p:cNvPr>
            <p:cNvSpPr/>
            <p:nvPr/>
          </p:nvSpPr>
          <p:spPr>
            <a:xfrm>
              <a:off x="5645144" y="3140870"/>
              <a:ext cx="170235" cy="11053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4C9FC72-B791-4FE7-B49F-C89D4B7E7D94}"/>
              </a:ext>
            </a:extLst>
          </p:cNvPr>
          <p:cNvSpPr txBox="1"/>
          <p:nvPr/>
        </p:nvSpPr>
        <p:spPr>
          <a:xfrm>
            <a:off x="1070704" y="1924806"/>
            <a:ext cx="441147" cy="215444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r"/>
            <a:r>
              <a:rPr lang="en-US" altLang="ko-KR" sz="8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Lv. 1</a:t>
            </a:r>
            <a:endParaRPr lang="ko-KR" altLang="en-US" sz="800" b="1" dirty="0">
              <a:solidFill>
                <a:schemeClr val="bg1"/>
              </a:solidFill>
              <a:effectLst>
                <a:glow rad="63500">
                  <a:schemeClr val="tx1"/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pic>
        <p:nvPicPr>
          <p:cNvPr id="41" name="Picture 2" descr="돋보기 - 무료 도구 및기구개 아이콘">
            <a:extLst>
              <a:ext uri="{FF2B5EF4-FFF2-40B4-BE49-F238E27FC236}">
                <a16:creationId xmlns:a16="http://schemas.microsoft.com/office/drawing/2014/main" id="{29E5C356-3EC2-4D80-A4D2-75BD3F8B49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025" y="1933945"/>
            <a:ext cx="182303" cy="182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" name="직사각형 41">
            <a:extLst>
              <a:ext uri="{FF2B5EF4-FFF2-40B4-BE49-F238E27FC236}">
                <a16:creationId xmlns:a16="http://schemas.microsoft.com/office/drawing/2014/main" id="{67A26ACD-1057-4B8D-8CFA-EB47217D9036}"/>
              </a:ext>
            </a:extLst>
          </p:cNvPr>
          <p:cNvSpPr/>
          <p:nvPr/>
        </p:nvSpPr>
        <p:spPr>
          <a:xfrm>
            <a:off x="899378" y="6168507"/>
            <a:ext cx="148465" cy="148465"/>
          </a:xfrm>
          <a:prstGeom prst="rect">
            <a:avLst/>
          </a:prstGeom>
          <a:solidFill>
            <a:srgbClr val="EE77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C14948A-3343-456B-8398-E5AEF90D363C}"/>
              </a:ext>
            </a:extLst>
          </p:cNvPr>
          <p:cNvSpPr txBox="1"/>
          <p:nvPr/>
        </p:nvSpPr>
        <p:spPr>
          <a:xfrm>
            <a:off x="1007733" y="6118289"/>
            <a:ext cx="1229789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기름 현황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6E15B8A-038E-45B8-8035-BF6C1D4652EC}"/>
              </a:ext>
            </a:extLst>
          </p:cNvPr>
          <p:cNvSpPr/>
          <p:nvPr/>
        </p:nvSpPr>
        <p:spPr>
          <a:xfrm>
            <a:off x="899378" y="6359985"/>
            <a:ext cx="148465" cy="14846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0FBB5B-FCF8-47B6-A574-A8F55E6CE347}"/>
              </a:ext>
            </a:extLst>
          </p:cNvPr>
          <p:cNvSpPr txBox="1"/>
          <p:nvPr/>
        </p:nvSpPr>
        <p:spPr>
          <a:xfrm>
            <a:off x="1007733" y="6309768"/>
            <a:ext cx="198147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웨이브 진행도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9B09F71-7C1D-472B-A32F-BFD36C489E69}"/>
              </a:ext>
            </a:extLst>
          </p:cNvPr>
          <p:cNvSpPr/>
          <p:nvPr/>
        </p:nvSpPr>
        <p:spPr>
          <a:xfrm>
            <a:off x="899378" y="6551464"/>
            <a:ext cx="148465" cy="148465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43E45C-F290-494D-8A63-15FD87D6F90A}"/>
              </a:ext>
            </a:extLst>
          </p:cNvPr>
          <p:cNvSpPr txBox="1"/>
          <p:nvPr/>
        </p:nvSpPr>
        <p:spPr>
          <a:xfrm>
            <a:off x="1007733" y="6501247"/>
            <a:ext cx="1589141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배속</a:t>
            </a:r>
            <a:r>
              <a:rPr lang="en-US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일시정지 버튼</a:t>
            </a: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9319B1F2-6BA6-4B2A-BEE9-CCEAD4DBD8B1}"/>
              </a:ext>
            </a:extLst>
          </p:cNvPr>
          <p:cNvGrpSpPr/>
          <p:nvPr/>
        </p:nvGrpSpPr>
        <p:grpSpPr>
          <a:xfrm>
            <a:off x="911557" y="5223651"/>
            <a:ext cx="2498735" cy="817215"/>
            <a:chOff x="4587404" y="4396748"/>
            <a:chExt cx="2498735" cy="817215"/>
          </a:xfrm>
        </p:grpSpPr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FDADC5FB-D338-4BBD-95F1-1D7E92CEBFD5}"/>
                </a:ext>
              </a:extLst>
            </p:cNvPr>
            <p:cNvSpPr/>
            <p:nvPr/>
          </p:nvSpPr>
          <p:spPr>
            <a:xfrm>
              <a:off x="4614109" y="4487767"/>
              <a:ext cx="2472030" cy="726196"/>
            </a:xfrm>
            <a:prstGeom prst="roundRect">
              <a:avLst>
                <a:gd name="adj" fmla="val 6787"/>
              </a:avLst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8EBA72F-AA0D-460B-AC90-AF6A495A2AFA}"/>
                </a:ext>
              </a:extLst>
            </p:cNvPr>
            <p:cNvSpPr/>
            <p:nvPr/>
          </p:nvSpPr>
          <p:spPr>
            <a:xfrm>
              <a:off x="4614109" y="4480486"/>
              <a:ext cx="2472030" cy="201836"/>
            </a:xfrm>
            <a:prstGeom prst="roundRect">
              <a:avLst>
                <a:gd name="adj" fmla="val 6787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A27ED72B-101E-4A62-A191-486C4F006310}"/>
                </a:ext>
              </a:extLst>
            </p:cNvPr>
            <p:cNvSpPr/>
            <p:nvPr/>
          </p:nvSpPr>
          <p:spPr>
            <a:xfrm>
              <a:off x="5077927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2" name="그룹 51">
              <a:extLst>
                <a:ext uri="{FF2B5EF4-FFF2-40B4-BE49-F238E27FC236}">
                  <a16:creationId xmlns:a16="http://schemas.microsoft.com/office/drawing/2014/main" id="{9A7B5A39-59F2-4FE6-8BEF-2FE9D4F2BCEC}"/>
                </a:ext>
              </a:extLst>
            </p:cNvPr>
            <p:cNvGrpSpPr/>
            <p:nvPr/>
          </p:nvGrpSpPr>
          <p:grpSpPr>
            <a:xfrm>
              <a:off x="5166700" y="4835822"/>
              <a:ext cx="238478" cy="233355"/>
              <a:chOff x="10356957" y="4935575"/>
              <a:chExt cx="321867" cy="314954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77" name="직사각형 76">
                <a:extLst>
                  <a:ext uri="{FF2B5EF4-FFF2-40B4-BE49-F238E27FC236}">
                    <a16:creationId xmlns:a16="http://schemas.microsoft.com/office/drawing/2014/main" id="{1BB13D9B-39B6-4152-BD73-15FEEB1C76EB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8" name="직사각형 77">
                <a:extLst>
                  <a:ext uri="{FF2B5EF4-FFF2-40B4-BE49-F238E27FC236}">
                    <a16:creationId xmlns:a16="http://schemas.microsoft.com/office/drawing/2014/main" id="{A2923CF5-0C61-4228-B6FD-BB199FD2298A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9" name="직사각형 78">
                <a:extLst>
                  <a:ext uri="{FF2B5EF4-FFF2-40B4-BE49-F238E27FC236}">
                    <a16:creationId xmlns:a16="http://schemas.microsoft.com/office/drawing/2014/main" id="{03911C96-D61A-4CFF-81BC-91B63840C45C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1EF3ABD6-3F7B-4BEF-954B-D07C2C3108CE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53" name="그림 52">
              <a:extLst>
                <a:ext uri="{FF2B5EF4-FFF2-40B4-BE49-F238E27FC236}">
                  <a16:creationId xmlns:a16="http://schemas.microsoft.com/office/drawing/2014/main" id="{177F3F38-8586-4548-943D-7E8E019DF8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05861" y="4883901"/>
              <a:ext cx="157615" cy="138217"/>
            </a:xfrm>
            <a:prstGeom prst="rect">
              <a:avLst/>
            </a:prstGeom>
          </p:spPr>
        </p:pic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19155ADF-26DF-46ED-A282-D66B788DE2A4}"/>
                </a:ext>
              </a:extLst>
            </p:cNvPr>
            <p:cNvSpPr/>
            <p:nvPr/>
          </p:nvSpPr>
          <p:spPr>
            <a:xfrm>
              <a:off x="5563079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D09B15E1-3388-4A1E-A484-FB74BD08BD4F}"/>
                </a:ext>
              </a:extLst>
            </p:cNvPr>
            <p:cNvGrpSpPr/>
            <p:nvPr/>
          </p:nvGrpSpPr>
          <p:grpSpPr>
            <a:xfrm>
              <a:off x="5651852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71" name="직사각형 70">
                <a:extLst>
                  <a:ext uri="{FF2B5EF4-FFF2-40B4-BE49-F238E27FC236}">
                    <a16:creationId xmlns:a16="http://schemas.microsoft.com/office/drawing/2014/main" id="{EAED92C8-0114-4C41-A3A4-4A213F117FFD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2" name="직사각형 71">
                <a:extLst>
                  <a:ext uri="{FF2B5EF4-FFF2-40B4-BE49-F238E27FC236}">
                    <a16:creationId xmlns:a16="http://schemas.microsoft.com/office/drawing/2014/main" id="{8CF2CD8C-0F68-48D3-AC83-4B20CB9C6387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3" name="직사각형 72">
                <a:extLst>
                  <a:ext uri="{FF2B5EF4-FFF2-40B4-BE49-F238E27FC236}">
                    <a16:creationId xmlns:a16="http://schemas.microsoft.com/office/drawing/2014/main" id="{7224BF94-42B4-43BB-A4D4-F39D3301CF31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4" name="직사각형 73">
                <a:extLst>
                  <a:ext uri="{FF2B5EF4-FFF2-40B4-BE49-F238E27FC236}">
                    <a16:creationId xmlns:a16="http://schemas.microsoft.com/office/drawing/2014/main" id="{1F5C1ABC-AD1B-491C-8BEF-1334483CEB66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5" name="직사각형 74">
                <a:extLst>
                  <a:ext uri="{FF2B5EF4-FFF2-40B4-BE49-F238E27FC236}">
                    <a16:creationId xmlns:a16="http://schemas.microsoft.com/office/drawing/2014/main" id="{64D6A1FD-0EAB-4C6C-8C03-F41D945E3F7F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6" name="직사각형 75">
                <a:extLst>
                  <a:ext uri="{FF2B5EF4-FFF2-40B4-BE49-F238E27FC236}">
                    <a16:creationId xmlns:a16="http://schemas.microsoft.com/office/drawing/2014/main" id="{3A4E5B01-429C-4B47-8CCD-922C0D919335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63763918-6F3B-4BB7-845A-6A6ACF47DF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91014" y="4855380"/>
              <a:ext cx="157615" cy="138217"/>
            </a:xfrm>
            <a:prstGeom prst="rect">
              <a:avLst/>
            </a:prstGeom>
          </p:spPr>
        </p:pic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909BC0A6-F074-4A17-99C5-F072E752FAEB}"/>
                </a:ext>
              </a:extLst>
            </p:cNvPr>
            <p:cNvSpPr/>
            <p:nvPr/>
          </p:nvSpPr>
          <p:spPr>
            <a:xfrm>
              <a:off x="6048231" y="4729525"/>
              <a:ext cx="417597" cy="43929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782E2C26-7D9E-4609-8E9B-5A216ACBFE72}"/>
                </a:ext>
              </a:extLst>
            </p:cNvPr>
            <p:cNvGrpSpPr/>
            <p:nvPr/>
          </p:nvGrpSpPr>
          <p:grpSpPr>
            <a:xfrm>
              <a:off x="6137004" y="4771432"/>
              <a:ext cx="238478" cy="352727"/>
              <a:chOff x="10356957" y="4774461"/>
              <a:chExt cx="321867" cy="476068"/>
            </a:xfrm>
            <a:solidFill>
              <a:schemeClr val="accent6">
                <a:lumMod val="60000"/>
                <a:lumOff val="40000"/>
              </a:schemeClr>
            </a:solidFill>
          </p:grpSpPr>
          <p:sp>
            <p:nvSpPr>
              <p:cNvPr id="65" name="직사각형 64">
                <a:extLst>
                  <a:ext uri="{FF2B5EF4-FFF2-40B4-BE49-F238E27FC236}">
                    <a16:creationId xmlns:a16="http://schemas.microsoft.com/office/drawing/2014/main" id="{F0C416D9-46F0-4A3E-9D4C-2AA3A4F295AC}"/>
                  </a:ext>
                </a:extLst>
              </p:cNvPr>
              <p:cNvSpPr/>
              <p:nvPr/>
            </p:nvSpPr>
            <p:spPr>
              <a:xfrm>
                <a:off x="10356958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6" name="직사각형 65">
                <a:extLst>
                  <a:ext uri="{FF2B5EF4-FFF2-40B4-BE49-F238E27FC236}">
                    <a16:creationId xmlns:a16="http://schemas.microsoft.com/office/drawing/2014/main" id="{4D1B2372-9569-4A54-A01A-DDB641A7C5F5}"/>
                  </a:ext>
                </a:extLst>
              </p:cNvPr>
              <p:cNvSpPr/>
              <p:nvPr/>
            </p:nvSpPr>
            <p:spPr>
              <a:xfrm>
                <a:off x="10516581" y="4935575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5DE3F4E1-4CED-4FC8-AC62-208D62CEF735}"/>
                  </a:ext>
                </a:extLst>
              </p:cNvPr>
              <p:cNvSpPr/>
              <p:nvPr/>
            </p:nvSpPr>
            <p:spPr>
              <a:xfrm>
                <a:off x="10516581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8" name="직사각형 67">
                <a:extLst>
                  <a:ext uri="{FF2B5EF4-FFF2-40B4-BE49-F238E27FC236}">
                    <a16:creationId xmlns:a16="http://schemas.microsoft.com/office/drawing/2014/main" id="{23199174-D764-4102-B568-750716B96B98}"/>
                  </a:ext>
                </a:extLst>
              </p:cNvPr>
              <p:cNvSpPr/>
              <p:nvPr/>
            </p:nvSpPr>
            <p:spPr>
              <a:xfrm>
                <a:off x="10356957" y="5088286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69" name="직사각형 68">
                <a:extLst>
                  <a:ext uri="{FF2B5EF4-FFF2-40B4-BE49-F238E27FC236}">
                    <a16:creationId xmlns:a16="http://schemas.microsoft.com/office/drawing/2014/main" id="{2B817B6A-A876-4ADA-862A-DF6DB74CAA9E}"/>
                  </a:ext>
                </a:extLst>
              </p:cNvPr>
              <p:cNvSpPr/>
              <p:nvPr/>
            </p:nvSpPr>
            <p:spPr>
              <a:xfrm>
                <a:off x="10356958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70" name="직사각형 69">
                <a:extLst>
                  <a:ext uri="{FF2B5EF4-FFF2-40B4-BE49-F238E27FC236}">
                    <a16:creationId xmlns:a16="http://schemas.microsoft.com/office/drawing/2014/main" id="{11866810-FCB7-49F4-8B9C-1127B52A8ECE}"/>
                  </a:ext>
                </a:extLst>
              </p:cNvPr>
              <p:cNvSpPr/>
              <p:nvPr/>
            </p:nvSpPr>
            <p:spPr>
              <a:xfrm>
                <a:off x="10516581" y="4774461"/>
                <a:ext cx="162243" cy="162243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pic>
          <p:nvPicPr>
            <p:cNvPr id="59" name="그림 58">
              <a:extLst>
                <a:ext uri="{FF2B5EF4-FFF2-40B4-BE49-F238E27FC236}">
                  <a16:creationId xmlns:a16="http://schemas.microsoft.com/office/drawing/2014/main" id="{24EC213F-BFE2-4F74-8FD0-325733789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76166" y="4855380"/>
              <a:ext cx="157615" cy="138217"/>
            </a:xfrm>
            <a:prstGeom prst="rect">
              <a:avLst/>
            </a:prstGeom>
          </p:spPr>
        </p:pic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9EB2EF6A-DC92-4946-B163-11501A63D1FE}"/>
                </a:ext>
              </a:extLst>
            </p:cNvPr>
            <p:cNvSpPr/>
            <p:nvPr/>
          </p:nvSpPr>
          <p:spPr>
            <a:xfrm>
              <a:off x="4730790" y="4477414"/>
              <a:ext cx="1992740" cy="184832"/>
            </a:xfrm>
            <a:prstGeom prst="roundRect">
              <a:avLst>
                <a:gd name="adj" fmla="val 6787"/>
              </a:avLst>
            </a:prstGeom>
            <a:solidFill>
              <a:srgbClr val="00D2FF"/>
            </a:solidFill>
            <a:ln>
              <a:solidFill>
                <a:schemeClr val="accent1">
                  <a:shade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D51A5F6-ED21-41D8-AAAD-73B400D271E8}"/>
                </a:ext>
              </a:extLst>
            </p:cNvPr>
            <p:cNvSpPr txBox="1"/>
            <p:nvPr/>
          </p:nvSpPr>
          <p:spPr>
            <a:xfrm>
              <a:off x="5658843" y="4431572"/>
              <a:ext cx="53091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200" b="1" dirty="0">
                  <a:solidFill>
                    <a:schemeClr val="bg1"/>
                  </a:solidFill>
                  <a:effectLst>
                    <a:glow rad="63500">
                      <a:schemeClr val="tx1"/>
                    </a:glow>
                  </a:effectLst>
                  <a:latin typeface="에스코어 드림 9 Black" panose="020B0A03030302020204" pitchFamily="34" charset="-127"/>
                  <a:ea typeface="에스코어 드림 9 Black" panose="020B0A03030302020204" pitchFamily="34" charset="-127"/>
                </a:rPr>
                <a:t>90%</a:t>
              </a:r>
              <a:endParaRPr lang="ko-KR" altLang="en-US" sz="1200" b="1" dirty="0">
                <a:solidFill>
                  <a:schemeClr val="bg1"/>
                </a:solidFill>
                <a:effectLst>
                  <a:glow rad="63500">
                    <a:schemeClr val="tx1"/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endParaRPr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FB258C45-3BBD-4D28-B3DA-CE7BE7DE5930}"/>
                </a:ext>
              </a:extLst>
            </p:cNvPr>
            <p:cNvGrpSpPr/>
            <p:nvPr/>
          </p:nvGrpSpPr>
          <p:grpSpPr>
            <a:xfrm>
              <a:off x="4587404" y="4396748"/>
              <a:ext cx="330766" cy="330766"/>
              <a:chOff x="3782121" y="3757226"/>
              <a:chExt cx="1094680" cy="1094680"/>
            </a:xfrm>
          </p:grpSpPr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F025B95E-3177-4EA0-BAD0-C8D1515A0938}"/>
                  </a:ext>
                </a:extLst>
              </p:cNvPr>
              <p:cNvSpPr/>
              <p:nvPr/>
            </p:nvSpPr>
            <p:spPr>
              <a:xfrm>
                <a:off x="3782121" y="3757226"/>
                <a:ext cx="1094680" cy="1094680"/>
              </a:xfrm>
              <a:prstGeom prst="roundRect">
                <a:avLst>
                  <a:gd name="adj" fmla="val 4397"/>
                </a:avLst>
              </a:prstGeom>
              <a:solidFill>
                <a:schemeClr val="accent6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pic>
            <p:nvPicPr>
              <p:cNvPr id="64" name="Picture 12">
                <a:extLst>
                  <a:ext uri="{FF2B5EF4-FFF2-40B4-BE49-F238E27FC236}">
                    <a16:creationId xmlns:a16="http://schemas.microsoft.com/office/drawing/2014/main" id="{F6BD082E-2D3C-4E5F-95C2-ABC0ADFB026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32492" y="3768673"/>
                <a:ext cx="998443" cy="99844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99F6053F-6D61-45A7-9805-49D45DF73851}"/>
              </a:ext>
            </a:extLst>
          </p:cNvPr>
          <p:cNvSpPr txBox="1"/>
          <p:nvPr/>
        </p:nvSpPr>
        <p:spPr>
          <a:xfrm>
            <a:off x="4751166" y="1729294"/>
            <a:ext cx="3530134" cy="8878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현재 구현된 부분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범부를 치면 타워 게이지 상승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게이지가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100%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에 도달하면 영웅 타워 추가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1F9E8F0-BFDA-41F9-8703-EEBA6D8BD97F}"/>
              </a:ext>
            </a:extLst>
          </p:cNvPr>
          <p:cNvSpPr txBox="1"/>
          <p:nvPr/>
        </p:nvSpPr>
        <p:spPr>
          <a:xfrm>
            <a:off x="4751166" y="3267320"/>
            <a:ext cx="5742598" cy="8878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구현하고자 하는 부분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게이지가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100%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에 도달하면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 데이터를 기반으로 랜덤 타워 추가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인벤토리에서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 데이터를 기반으로 타워 정보 표시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이미지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레벨 등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77902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84DD7ED-D641-4048-B2DC-2FD2B03ECAF3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895FC-AD32-4677-B940-70D4BECD64E1}"/>
              </a:ext>
            </a:extLst>
          </p:cNvPr>
          <p:cNvSpPr txBox="1"/>
          <p:nvPr/>
        </p:nvSpPr>
        <p:spPr>
          <a:xfrm>
            <a:off x="840746" y="513168"/>
            <a:ext cx="1744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타워 인벤토리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91E2A-0CA9-46D9-96A4-09EEBF073158}"/>
              </a:ext>
            </a:extLst>
          </p:cNvPr>
          <p:cNvSpPr txBox="1"/>
          <p:nvPr/>
        </p:nvSpPr>
        <p:spPr>
          <a:xfrm>
            <a:off x="745699" y="755794"/>
            <a:ext cx="3703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타워 인벤토리에 타워 추가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753DBB7-DDEE-4EB2-B66E-C7039457F3D6}"/>
              </a:ext>
            </a:extLst>
          </p:cNvPr>
          <p:cNvSpPr txBox="1"/>
          <p:nvPr/>
        </p:nvSpPr>
        <p:spPr>
          <a:xfrm>
            <a:off x="745699" y="1729294"/>
            <a:ext cx="9875845" cy="15526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기능 요약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Hero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테이블에서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유저가 장착한 영웅들의 태그 값 조회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(TableHeroTower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컬럼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HeroTower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시트에서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태그가 일치하는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Key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들의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Rate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를 합산하고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그 중 하나를 랜덤으로 뽑음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뽑은 타워는 타워 인벤토리에 추가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en-US" altLang="ko-KR" sz="1200" dirty="0">
                <a:solidFill>
                  <a:srgbClr val="0070C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HeroInfoCell_Example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프리팹으로 셀 표시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목록은 중앙 정렬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가로 스크롤뷰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작업 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_Example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제거 필요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en-US" altLang="ko-KR" sz="1200" dirty="0">
                <a:solidFill>
                  <a:srgbClr val="0070C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HeroInfoCell_Example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프리팹에서 표시할 타워 이미지는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HeroTower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시트의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ThumbnailAddr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을 출력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레벨은 셀 프리팹에서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txt_level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를 통해 표시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(Local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테이블의 리치텍스트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Key: format_tower_level)</a:t>
            </a:r>
          </a:p>
        </p:txBody>
      </p:sp>
      <p:sp>
        <p:nvSpPr>
          <p:cNvPr id="190" name="사각형: 둥근 모서리 189">
            <a:extLst>
              <a:ext uri="{FF2B5EF4-FFF2-40B4-BE49-F238E27FC236}">
                <a16:creationId xmlns:a16="http://schemas.microsoft.com/office/drawing/2014/main" id="{86F055F9-55DB-415F-9CE2-D8D5054D4692}"/>
              </a:ext>
            </a:extLst>
          </p:cNvPr>
          <p:cNvSpPr/>
          <p:nvPr/>
        </p:nvSpPr>
        <p:spPr>
          <a:xfrm>
            <a:off x="859795" y="4294757"/>
            <a:ext cx="1866901" cy="485775"/>
          </a:xfrm>
          <a:prstGeom prst="roundRect">
            <a:avLst>
              <a:gd name="adj" fmla="val 0"/>
            </a:avLst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600" dirty="0"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Hero </a:t>
            </a:r>
            <a:r>
              <a:rPr lang="ko-KR" altLang="en-US" sz="1600" dirty="0"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테이블</a:t>
            </a:r>
          </a:p>
        </p:txBody>
      </p:sp>
      <p:sp>
        <p:nvSpPr>
          <p:cNvPr id="191" name="사각형: 둥근 모서리 190">
            <a:extLst>
              <a:ext uri="{FF2B5EF4-FFF2-40B4-BE49-F238E27FC236}">
                <a16:creationId xmlns:a16="http://schemas.microsoft.com/office/drawing/2014/main" id="{E930DCC5-513E-4925-BF5C-0E265C1393B1}"/>
              </a:ext>
            </a:extLst>
          </p:cNvPr>
          <p:cNvSpPr/>
          <p:nvPr/>
        </p:nvSpPr>
        <p:spPr>
          <a:xfrm>
            <a:off x="859795" y="4780532"/>
            <a:ext cx="1866901" cy="485775"/>
          </a:xfrm>
          <a:prstGeom prst="roundRect">
            <a:avLst>
              <a:gd name="adj" fmla="val 0"/>
            </a:avLst>
          </a:prstGeom>
          <a:solidFill>
            <a:srgbClr val="00206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dirty="0">
                <a:solidFill>
                  <a:srgbClr val="002060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TableHeroTower </a:t>
            </a:r>
            <a:r>
              <a:rPr lang="ko-KR" altLang="en-US" sz="1200" dirty="0">
                <a:solidFill>
                  <a:srgbClr val="002060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컬럼</a:t>
            </a:r>
          </a:p>
        </p:txBody>
      </p:sp>
      <p:sp>
        <p:nvSpPr>
          <p:cNvPr id="192" name="사각형: 둥근 모서리 191">
            <a:extLst>
              <a:ext uri="{FF2B5EF4-FFF2-40B4-BE49-F238E27FC236}">
                <a16:creationId xmlns:a16="http://schemas.microsoft.com/office/drawing/2014/main" id="{9D4B3EB4-AEBE-41A2-A569-79899CC91198}"/>
              </a:ext>
            </a:extLst>
          </p:cNvPr>
          <p:cNvSpPr/>
          <p:nvPr/>
        </p:nvSpPr>
        <p:spPr>
          <a:xfrm>
            <a:off x="3774445" y="4294757"/>
            <a:ext cx="1866901" cy="485775"/>
          </a:xfrm>
          <a:prstGeom prst="roundRect">
            <a:avLst>
              <a:gd name="adj" fmla="val 0"/>
            </a:avLst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600" dirty="0"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HeroTower </a:t>
            </a:r>
            <a:r>
              <a:rPr lang="ko-KR" altLang="en-US" sz="1600" dirty="0"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시트</a:t>
            </a:r>
          </a:p>
        </p:txBody>
      </p:sp>
      <p:sp>
        <p:nvSpPr>
          <p:cNvPr id="193" name="사각형: 둥근 모서리 192">
            <a:extLst>
              <a:ext uri="{FF2B5EF4-FFF2-40B4-BE49-F238E27FC236}">
                <a16:creationId xmlns:a16="http://schemas.microsoft.com/office/drawing/2014/main" id="{F4D6AECA-0CD1-4363-8C2B-6A1D6F1C2B04}"/>
              </a:ext>
            </a:extLst>
          </p:cNvPr>
          <p:cNvSpPr/>
          <p:nvPr/>
        </p:nvSpPr>
        <p:spPr>
          <a:xfrm>
            <a:off x="3774445" y="4780532"/>
            <a:ext cx="1866901" cy="485775"/>
          </a:xfrm>
          <a:prstGeom prst="roundRect">
            <a:avLst>
              <a:gd name="adj" fmla="val 0"/>
            </a:avLst>
          </a:prstGeom>
          <a:solidFill>
            <a:srgbClr val="00206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dirty="0">
                <a:solidFill>
                  <a:srgbClr val="002060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Tag </a:t>
            </a:r>
            <a:r>
              <a:rPr lang="ko-KR" altLang="en-US" sz="1200" dirty="0">
                <a:solidFill>
                  <a:srgbClr val="002060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컬럼</a:t>
            </a: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E693D16B-D3E6-4C3F-97F6-C058F3E69C66}"/>
              </a:ext>
            </a:extLst>
          </p:cNvPr>
          <p:cNvCxnSpPr/>
          <p:nvPr/>
        </p:nvCxnSpPr>
        <p:spPr>
          <a:xfrm>
            <a:off x="2726696" y="5023420"/>
            <a:ext cx="1047749" cy="0"/>
          </a:xfrm>
          <a:prstGeom prst="straightConnector1">
            <a:avLst/>
          </a:prstGeom>
          <a:ln w="19050">
            <a:solidFill>
              <a:srgbClr val="C0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사각형: 둥근 모서리 194">
            <a:extLst>
              <a:ext uri="{FF2B5EF4-FFF2-40B4-BE49-F238E27FC236}">
                <a16:creationId xmlns:a16="http://schemas.microsoft.com/office/drawing/2014/main" id="{968FC7EA-3FEF-4BD9-85E6-E4F1001BC97A}"/>
              </a:ext>
            </a:extLst>
          </p:cNvPr>
          <p:cNvSpPr/>
          <p:nvPr/>
        </p:nvSpPr>
        <p:spPr>
          <a:xfrm>
            <a:off x="3774445" y="5266307"/>
            <a:ext cx="1866901" cy="485775"/>
          </a:xfrm>
          <a:prstGeom prst="roundRect">
            <a:avLst>
              <a:gd name="adj" fmla="val 0"/>
            </a:avLst>
          </a:prstGeom>
          <a:solidFill>
            <a:srgbClr val="00206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dirty="0">
                <a:solidFill>
                  <a:srgbClr val="002060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 Rate </a:t>
            </a:r>
            <a:r>
              <a:rPr lang="ko-KR" altLang="en-US" sz="1200" dirty="0">
                <a:solidFill>
                  <a:srgbClr val="002060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컬럼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3CC33F5-BE7E-432A-A85E-755BEE15FF89}"/>
              </a:ext>
            </a:extLst>
          </p:cNvPr>
          <p:cNvSpPr txBox="1"/>
          <p:nvPr/>
        </p:nvSpPr>
        <p:spPr>
          <a:xfrm>
            <a:off x="745699" y="3832418"/>
            <a:ext cx="1686680" cy="365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테이블 구조 예시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9B1619C-F0D0-4890-9DF3-3A6737DF47FD}"/>
              </a:ext>
            </a:extLst>
          </p:cNvPr>
          <p:cNvSpPr txBox="1"/>
          <p:nvPr/>
        </p:nvSpPr>
        <p:spPr>
          <a:xfrm>
            <a:off x="5966076" y="4889136"/>
            <a:ext cx="1446037" cy="7401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일치한 태그의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Rate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들을 합산하고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그 중 하나를 뽑음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0A703B37-B453-4D7B-A090-4AF3951F14AE}"/>
              </a:ext>
            </a:extLst>
          </p:cNvPr>
          <p:cNvSpPr/>
          <p:nvPr/>
        </p:nvSpPr>
        <p:spPr>
          <a:xfrm>
            <a:off x="3774445" y="5752080"/>
            <a:ext cx="1866901" cy="485775"/>
          </a:xfrm>
          <a:prstGeom prst="roundRect">
            <a:avLst>
              <a:gd name="adj" fmla="val 0"/>
            </a:avLst>
          </a:prstGeom>
          <a:solidFill>
            <a:srgbClr val="002060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ko-KR" sz="1200" dirty="0">
                <a:solidFill>
                  <a:srgbClr val="002060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 ThumbnailAddr </a:t>
            </a:r>
            <a:r>
              <a:rPr lang="ko-KR" altLang="en-US" sz="1200" dirty="0">
                <a:solidFill>
                  <a:srgbClr val="002060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컬럼</a:t>
            </a:r>
          </a:p>
        </p:txBody>
      </p:sp>
      <p:sp>
        <p:nvSpPr>
          <p:cNvPr id="200" name="오른쪽 중괄호 199">
            <a:extLst>
              <a:ext uri="{FF2B5EF4-FFF2-40B4-BE49-F238E27FC236}">
                <a16:creationId xmlns:a16="http://schemas.microsoft.com/office/drawing/2014/main" id="{8C608400-44DB-418B-8893-8C0C01189202}"/>
              </a:ext>
            </a:extLst>
          </p:cNvPr>
          <p:cNvSpPr/>
          <p:nvPr/>
        </p:nvSpPr>
        <p:spPr>
          <a:xfrm>
            <a:off x="5698496" y="4932098"/>
            <a:ext cx="140329" cy="697177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6CE51F10-B02C-43CC-A240-0231DF6D8E03}"/>
              </a:ext>
            </a:extLst>
          </p:cNvPr>
          <p:cNvSpPr txBox="1"/>
          <p:nvPr/>
        </p:nvSpPr>
        <p:spPr>
          <a:xfrm>
            <a:off x="5966076" y="5860596"/>
            <a:ext cx="2871299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인벤토리에서 표시할 썸네일 프리팹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202" name="오른쪽 중괄호 201">
            <a:extLst>
              <a:ext uri="{FF2B5EF4-FFF2-40B4-BE49-F238E27FC236}">
                <a16:creationId xmlns:a16="http://schemas.microsoft.com/office/drawing/2014/main" id="{16DED438-70DB-425A-8873-DBE3B1DBBDB1}"/>
              </a:ext>
            </a:extLst>
          </p:cNvPr>
          <p:cNvSpPr/>
          <p:nvPr/>
        </p:nvSpPr>
        <p:spPr>
          <a:xfrm>
            <a:off x="5698496" y="5846497"/>
            <a:ext cx="140329" cy="332848"/>
          </a:xfrm>
          <a:prstGeom prst="rightBrac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1285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D605FA-0986-4426-943A-407FB8E51E9D}"/>
              </a:ext>
            </a:extLst>
          </p:cNvPr>
          <p:cNvSpPr txBox="1"/>
          <p:nvPr/>
        </p:nvSpPr>
        <p:spPr>
          <a:xfrm>
            <a:off x="4244375" y="2032144"/>
            <a:ext cx="37032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6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2. </a:t>
            </a:r>
            <a:r>
              <a:rPr lang="ko-KR" altLang="en-US" sz="36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영웅 타워 설치</a:t>
            </a:r>
          </a:p>
        </p:txBody>
      </p:sp>
    </p:spTree>
    <p:extLst>
      <p:ext uri="{BB962C8B-B14F-4D97-AF65-F5344CB8AC3E}">
        <p14:creationId xmlns:p14="http://schemas.microsoft.com/office/powerpoint/2010/main" val="3699468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FD6BA0B-CE84-4FDC-AACE-67EB18A5A2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2725" b="1116"/>
          <a:stretch/>
        </p:blipFill>
        <p:spPr>
          <a:xfrm>
            <a:off x="840746" y="2065639"/>
            <a:ext cx="2745696" cy="4036567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84DD7ED-D641-4048-B2DC-2FD2B03ECAF3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895FC-AD32-4677-B940-70D4BECD64E1}"/>
              </a:ext>
            </a:extLst>
          </p:cNvPr>
          <p:cNvSpPr txBox="1"/>
          <p:nvPr/>
        </p:nvSpPr>
        <p:spPr>
          <a:xfrm>
            <a:off x="840746" y="513168"/>
            <a:ext cx="1744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2-1.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레퍼런스 점검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91E2A-0CA9-46D9-96A4-09EEBF073158}"/>
              </a:ext>
            </a:extLst>
          </p:cNvPr>
          <p:cNvSpPr txBox="1"/>
          <p:nvPr/>
        </p:nvSpPr>
        <p:spPr>
          <a:xfrm>
            <a:off x="745699" y="755794"/>
            <a:ext cx="61494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타워 설치 레퍼런스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: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스타크래프트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,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언더 다크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C880CC-A57C-4064-872C-6D18EED040FD}"/>
              </a:ext>
            </a:extLst>
          </p:cNvPr>
          <p:cNvSpPr txBox="1"/>
          <p:nvPr/>
        </p:nvSpPr>
        <p:spPr>
          <a:xfrm>
            <a:off x="4751166" y="5208504"/>
            <a:ext cx="3413114" cy="11094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타워 인벤토리 레퍼런스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각 타워는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 / 3x2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등 각자 사이즈가 있음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인벤토리에서는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큰 셀 안에 타워가 표시됨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덤으로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레벨 이상은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Lv.0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텍스트 표시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165D3376-B4CF-4C0D-8518-46E26DF26BC6}"/>
              </a:ext>
            </a:extLst>
          </p:cNvPr>
          <p:cNvSpPr/>
          <p:nvPr/>
        </p:nvSpPr>
        <p:spPr>
          <a:xfrm rot="5400000">
            <a:off x="4088935" y="5265674"/>
            <a:ext cx="278034" cy="561314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4946024-7598-4E42-9404-93BF513D6D78}"/>
              </a:ext>
            </a:extLst>
          </p:cNvPr>
          <p:cNvSpPr/>
          <p:nvPr/>
        </p:nvSpPr>
        <p:spPr>
          <a:xfrm>
            <a:off x="9001125" y="5098656"/>
            <a:ext cx="895350" cy="8953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A79D680-A972-4E9C-A87B-22E8BCEA01AD}"/>
              </a:ext>
            </a:extLst>
          </p:cNvPr>
          <p:cNvGrpSpPr/>
          <p:nvPr/>
        </p:nvGrpSpPr>
        <p:grpSpPr>
          <a:xfrm>
            <a:off x="9209265" y="5264577"/>
            <a:ext cx="496655" cy="496655"/>
            <a:chOff x="9218790" y="5315907"/>
            <a:chExt cx="496655" cy="496655"/>
          </a:xfrm>
        </p:grpSpPr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680F819A-B911-4341-A938-50C6A5FD833D}"/>
                </a:ext>
              </a:extLst>
            </p:cNvPr>
            <p:cNvSpPr/>
            <p:nvPr/>
          </p:nvSpPr>
          <p:spPr>
            <a:xfrm>
              <a:off x="9218790" y="5315907"/>
              <a:ext cx="496655" cy="496655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70314535-14A7-4E64-828C-3FEF7490E6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29004" y="5443120"/>
              <a:ext cx="276225" cy="242228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3C46B78-9282-4CC5-9450-630D08195059}"/>
              </a:ext>
            </a:extLst>
          </p:cNvPr>
          <p:cNvSpPr/>
          <p:nvPr/>
        </p:nvSpPr>
        <p:spPr>
          <a:xfrm>
            <a:off x="9982200" y="5098656"/>
            <a:ext cx="895350" cy="89535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85BB06-5841-4038-8D6A-8C56C59C44FA}"/>
              </a:ext>
            </a:extLst>
          </p:cNvPr>
          <p:cNvSpPr/>
          <p:nvPr/>
        </p:nvSpPr>
        <p:spPr>
          <a:xfrm>
            <a:off x="10095035" y="5264577"/>
            <a:ext cx="687266" cy="496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F73938A-02FB-4383-804B-1FF639414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00554" y="5391790"/>
            <a:ext cx="276225" cy="24222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4F25F64-DC5E-4B6F-955D-FB30E0BC8EDC}"/>
              </a:ext>
            </a:extLst>
          </p:cNvPr>
          <p:cNvSpPr txBox="1"/>
          <p:nvPr/>
        </p:nvSpPr>
        <p:spPr>
          <a:xfrm>
            <a:off x="8641622" y="6123251"/>
            <a:ext cx="2565126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큰 셀 안의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2x2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3x2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예시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294822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757C50BE-4A70-4CF1-B583-4200B79607D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07" r="2526" b="15519"/>
          <a:stretch/>
        </p:blipFill>
        <p:spPr>
          <a:xfrm>
            <a:off x="840746" y="3775385"/>
            <a:ext cx="2745695" cy="2326821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84DD7ED-D641-4048-B2DC-2FD2B03ECAF3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895FC-AD32-4677-B940-70D4BECD64E1}"/>
              </a:ext>
            </a:extLst>
          </p:cNvPr>
          <p:cNvSpPr txBox="1"/>
          <p:nvPr/>
        </p:nvSpPr>
        <p:spPr>
          <a:xfrm>
            <a:off x="840746" y="513168"/>
            <a:ext cx="17443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2-1.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레퍼런스 점검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91E2A-0CA9-46D9-96A4-09EEBF073158}"/>
              </a:ext>
            </a:extLst>
          </p:cNvPr>
          <p:cNvSpPr txBox="1"/>
          <p:nvPr/>
        </p:nvSpPr>
        <p:spPr>
          <a:xfrm>
            <a:off x="745699" y="755794"/>
            <a:ext cx="61494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타워 설치 레퍼런스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: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스타크래프트</a:t>
            </a:r>
            <a:r>
              <a:rPr lang="en-US" altLang="ko-KR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, </a:t>
            </a:r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언더 다크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C880CC-A57C-4064-872C-6D18EED040FD}"/>
              </a:ext>
            </a:extLst>
          </p:cNvPr>
          <p:cNvSpPr txBox="1"/>
          <p:nvPr/>
        </p:nvSpPr>
        <p:spPr>
          <a:xfrm>
            <a:off x="4751166" y="3266493"/>
            <a:ext cx="4424609" cy="17742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타워 설치 레퍼런스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드래그 시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타워가 터치한 위치를 따라다님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타워는 격자에 맞게 딱딱 움직임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설치가 가능한 영역은 녹색으로 표시됨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다른 구조물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or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타워와 겹친 영역은 붉게 표시됨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손을 뗐을 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겹친 영역이 없다면 해당 자리에 타워 설치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손을 뗐을 때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1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칸이라도 겹치는 영역이 있다면 타워 설치 취소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165D3376-B4CF-4C0D-8518-46E26DF26BC6}"/>
              </a:ext>
            </a:extLst>
          </p:cNvPr>
          <p:cNvSpPr/>
          <p:nvPr/>
        </p:nvSpPr>
        <p:spPr>
          <a:xfrm rot="5400000">
            <a:off x="4088935" y="3323663"/>
            <a:ext cx="278034" cy="561314"/>
          </a:xfrm>
          <a:prstGeom prst="down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57556D28-6345-47C7-9340-E3AAA829B8F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9376" b="1115"/>
          <a:stretch/>
        </p:blipFill>
        <p:spPr>
          <a:xfrm>
            <a:off x="840746" y="2065639"/>
            <a:ext cx="2026279" cy="87842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  <a:effectLst>
            <a:outerShdw blurRad="50800" dist="38100" dir="2700000" algn="tl" rotWithShape="0">
              <a:schemeClr val="bg1">
                <a:alpha val="40000"/>
              </a:schemeClr>
            </a:outerShdw>
          </a:effectLst>
        </p:spPr>
      </p:pic>
      <p:pic>
        <p:nvPicPr>
          <p:cNvPr id="1026" name="Picture 2" descr="손가락 아이콘을 클릭하면 손이 벡터를 가리킵니다. 포인터 클릭 커서 화살표 아이콘 컴퓨터 마우스 클릭 | 프리미엄 벡터">
            <a:extLst>
              <a:ext uri="{FF2B5EF4-FFF2-40B4-BE49-F238E27FC236}">
                <a16:creationId xmlns:a16="http://schemas.microsoft.com/office/drawing/2014/main" id="{A4D9280B-9A95-4F71-98B8-12D15443C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1255" y="2403167"/>
            <a:ext cx="770928" cy="77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 descr="손가락 아이콘을 클릭하면 손이 벡터를 가리킵니다. 포인터 클릭 커서 화살표 아이콘 컴퓨터 마우스 클릭 | 프리미엄 벡터">
            <a:extLst>
              <a:ext uri="{FF2B5EF4-FFF2-40B4-BE49-F238E27FC236}">
                <a16:creationId xmlns:a16="http://schemas.microsoft.com/office/drawing/2014/main" id="{7B72DA3D-9816-413F-BE32-3EA67B7AA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737" y="4653889"/>
            <a:ext cx="770928" cy="77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1D86FD0-4A44-48F5-B9BC-912C653B9046}"/>
              </a:ext>
            </a:extLst>
          </p:cNvPr>
          <p:cNvCxnSpPr>
            <a:cxnSpLocks/>
          </p:cNvCxnSpPr>
          <p:nvPr/>
        </p:nvCxnSpPr>
        <p:spPr>
          <a:xfrm flipH="1">
            <a:off x="2686051" y="2876550"/>
            <a:ext cx="119150" cy="176212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5559ED36-A77B-44C0-9289-3A44A44CCE8E}"/>
              </a:ext>
            </a:extLst>
          </p:cNvPr>
          <p:cNvSpPr txBox="1"/>
          <p:nvPr/>
        </p:nvSpPr>
        <p:spPr>
          <a:xfrm>
            <a:off x="4751166" y="3025625"/>
            <a:ext cx="1476686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 b="1" dirty="0">
                <a:solidFill>
                  <a:srgbClr val="0070C0"/>
                </a:solidFill>
                <a:effectLst/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(25.05.20 </a:t>
            </a:r>
            <a:r>
              <a:rPr lang="ko-KR" altLang="en-US" sz="1200" b="1" dirty="0">
                <a:solidFill>
                  <a:srgbClr val="0070C0"/>
                </a:solidFill>
                <a:effectLst/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추가됨</a:t>
            </a:r>
            <a:r>
              <a:rPr lang="en-US" altLang="ko-KR" sz="1200" b="1" dirty="0">
                <a:solidFill>
                  <a:srgbClr val="0070C0"/>
                </a:solidFill>
                <a:effectLst/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)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0D90841C-166F-46AC-BB10-C294E958D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1687" y="4527757"/>
            <a:ext cx="1734937" cy="1458788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1970E2B-1EE4-4349-9586-6219FDB72003}"/>
              </a:ext>
            </a:extLst>
          </p:cNvPr>
          <p:cNvSpPr txBox="1"/>
          <p:nvPr/>
        </p:nvSpPr>
        <p:spPr>
          <a:xfrm>
            <a:off x="9268577" y="6087103"/>
            <a:ext cx="2581156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마치 스타크래프트 건물 짓기 처럼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!)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34529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>
            <a:extLst>
              <a:ext uri="{FF2B5EF4-FFF2-40B4-BE49-F238E27FC236}">
                <a16:creationId xmlns:a16="http://schemas.microsoft.com/office/drawing/2014/main" id="{20427A74-67AB-45AF-939D-3D749B373F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3898"/>
          <a:stretch/>
        </p:blipFill>
        <p:spPr>
          <a:xfrm>
            <a:off x="840746" y="2554329"/>
            <a:ext cx="2282400" cy="30891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284DD7ED-D641-4048-B2DC-2FD2B03ECAF3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895FC-AD32-4677-B940-70D4BECD64E1}"/>
              </a:ext>
            </a:extLst>
          </p:cNvPr>
          <p:cNvSpPr txBox="1"/>
          <p:nvPr/>
        </p:nvSpPr>
        <p:spPr>
          <a:xfrm>
            <a:off x="840746" y="513168"/>
            <a:ext cx="13885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2-2.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작동 점검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91E2A-0CA9-46D9-96A4-09EEBF073158}"/>
              </a:ext>
            </a:extLst>
          </p:cNvPr>
          <p:cNvSpPr txBox="1"/>
          <p:nvPr/>
        </p:nvSpPr>
        <p:spPr>
          <a:xfrm>
            <a:off x="745699" y="755794"/>
            <a:ext cx="2818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타워 설치 과정 요약</a:t>
            </a:r>
          </a:p>
        </p:txBody>
      </p:sp>
      <p:pic>
        <p:nvPicPr>
          <p:cNvPr id="9" name="Picture 2" descr="손가락 아이콘을 클릭하면 손이 벡터를 가리킵니다. 포인터 클릭 커서 화살표 아이콘 컴퓨터 마우스 클릭 | 프리미엄 벡터">
            <a:extLst>
              <a:ext uri="{FF2B5EF4-FFF2-40B4-BE49-F238E27FC236}">
                <a16:creationId xmlns:a16="http://schemas.microsoft.com/office/drawing/2014/main" id="{C645EF67-661A-4344-A846-EC2609602B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7938" y="3620851"/>
            <a:ext cx="770928" cy="77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D41CD3A3-A6A9-4A07-A812-3387AAD2BBD1}"/>
              </a:ext>
            </a:extLst>
          </p:cNvPr>
          <p:cNvCxnSpPr>
            <a:cxnSpLocks/>
          </p:cNvCxnSpPr>
          <p:nvPr/>
        </p:nvCxnSpPr>
        <p:spPr>
          <a:xfrm flipV="1">
            <a:off x="2140702" y="3914775"/>
            <a:ext cx="378732" cy="1312695"/>
          </a:xfrm>
          <a:prstGeom prst="straightConnector1">
            <a:avLst/>
          </a:prstGeom>
          <a:ln w="25400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187ED5-152E-4738-BDDF-FEF33630D7E4}"/>
              </a:ext>
            </a:extLst>
          </p:cNvPr>
          <p:cNvSpPr txBox="1"/>
          <p:nvPr/>
        </p:nvSpPr>
        <p:spPr>
          <a:xfrm>
            <a:off x="1071006" y="2087578"/>
            <a:ext cx="1822935" cy="365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타워를 드래그하면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A68AA1F6-46BE-453D-9452-03E1209ECE8C}"/>
              </a:ext>
            </a:extLst>
          </p:cNvPr>
          <p:cNvGrpSpPr/>
          <p:nvPr/>
        </p:nvGrpSpPr>
        <p:grpSpPr>
          <a:xfrm>
            <a:off x="4143006" y="2556427"/>
            <a:ext cx="3478063" cy="2671043"/>
            <a:chOff x="4043064" y="2556427"/>
            <a:chExt cx="2879942" cy="2211705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841C7F3-7DB0-4DF6-9534-F2BCFF5AAF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043064" y="2556427"/>
              <a:ext cx="1290041" cy="126239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AA8F4D9A-0CA0-436B-8D37-56CDC9A9163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043064" y="3620851"/>
              <a:ext cx="1290041" cy="817632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CA6B013E-5BCE-4943-B150-BE80DD1137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t="2303"/>
            <a:stretch/>
          </p:blipFill>
          <p:spPr>
            <a:xfrm>
              <a:off x="5632965" y="2556427"/>
              <a:ext cx="1290041" cy="1254356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4FB18037-5CC7-45BA-ADF4-9664B5CF2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632965" y="3632887"/>
              <a:ext cx="1290041" cy="80559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EA5ADDE-BCC0-42FF-B316-5727917400EE}"/>
                </a:ext>
              </a:extLst>
            </p:cNvPr>
            <p:cNvSpPr txBox="1"/>
            <p:nvPr/>
          </p:nvSpPr>
          <p:spPr>
            <a:xfrm>
              <a:off x="4225457" y="4471191"/>
              <a:ext cx="925253" cy="2969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평소 상태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  <a:endPara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05858ED-7B41-4B60-94FA-DC6AD6F93320}"/>
                </a:ext>
              </a:extLst>
            </p:cNvPr>
            <p:cNvSpPr txBox="1"/>
            <p:nvPr/>
          </p:nvSpPr>
          <p:spPr>
            <a:xfrm>
              <a:off x="5741619" y="4471191"/>
              <a:ext cx="1072731" cy="2969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(</a:t>
              </a:r>
              <a:r>
                <a:rPr lang="ko-KR" altLang="en-US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드래그 상태</a:t>
              </a:r>
              <a:r>
                <a:rPr lang="en-US" altLang="ko-KR" sz="12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에스코어 드림 3 Light" panose="020B0303030302020204" pitchFamily="34" charset="-127"/>
                  <a:ea typeface="에스코어 드림 3 Light" panose="020B0303030302020204" pitchFamily="34" charset="-127"/>
                </a:rPr>
                <a:t>)</a:t>
              </a:r>
              <a:endParaRPr lang="en-US" altLang="ko-KR" sz="1100" dirty="0">
                <a:solidFill>
                  <a:schemeClr val="tx1">
                    <a:lumMod val="65000"/>
                    <a:lumOff val="3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endParaRP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E1F1FAE-72DD-4C26-BC6B-0F8481658353}"/>
              </a:ext>
            </a:extLst>
          </p:cNvPr>
          <p:cNvSpPr txBox="1"/>
          <p:nvPr/>
        </p:nvSpPr>
        <p:spPr>
          <a:xfrm>
            <a:off x="4022394" y="2087578"/>
            <a:ext cx="3719288" cy="365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공격범위와 격자 오브젝트가 활성화되며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CDB58B-4E8B-4CF3-894F-069108BA8161}"/>
              </a:ext>
            </a:extLst>
          </p:cNvPr>
          <p:cNvSpPr txBox="1"/>
          <p:nvPr/>
        </p:nvSpPr>
        <p:spPr>
          <a:xfrm>
            <a:off x="8037526" y="2087578"/>
            <a:ext cx="3313728" cy="365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드래그 중일 때</a:t>
            </a:r>
            <a:r>
              <a:rPr lang="en-US" altLang="ko-KR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, </a:t>
            </a: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맵에 격자가 표시됨</a:t>
            </a:r>
            <a:endParaRPr lang="en-US" altLang="ko-KR" sz="1100" dirty="0">
              <a:solidFill>
                <a:schemeClr val="tx1">
                  <a:lumMod val="65000"/>
                  <a:lumOff val="3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D37636D1-DF5E-429C-B63F-601E46FED588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b="24532"/>
          <a:stretch/>
        </p:blipFill>
        <p:spPr>
          <a:xfrm>
            <a:off x="8553190" y="2554330"/>
            <a:ext cx="2282400" cy="308919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AF7F21E-C73D-48F8-B5D8-2B266BC27198}"/>
              </a:ext>
            </a:extLst>
          </p:cNvPr>
          <p:cNvSpPr txBox="1"/>
          <p:nvPr/>
        </p:nvSpPr>
        <p:spPr>
          <a:xfrm>
            <a:off x="4412731" y="5495048"/>
            <a:ext cx="2938626" cy="2969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※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공격범위는 임시로 넣은 것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.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 값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x</a:t>
            </a:r>
          </a:p>
        </p:txBody>
      </p:sp>
      <p:sp>
        <p:nvSpPr>
          <p:cNvPr id="30" name="이등변 삼각형 29">
            <a:extLst>
              <a:ext uri="{FF2B5EF4-FFF2-40B4-BE49-F238E27FC236}">
                <a16:creationId xmlns:a16="http://schemas.microsoft.com/office/drawing/2014/main" id="{E5200E4B-D69D-470B-9E2F-8CD795ECA379}"/>
              </a:ext>
            </a:extLst>
          </p:cNvPr>
          <p:cNvSpPr/>
          <p:nvPr/>
        </p:nvSpPr>
        <p:spPr>
          <a:xfrm rot="16200000">
            <a:off x="6791109" y="4262481"/>
            <a:ext cx="163894" cy="141288"/>
          </a:xfrm>
          <a:prstGeom prst="triangle">
            <a:avLst/>
          </a:prstGeom>
          <a:solidFill>
            <a:srgbClr val="00D2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234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84DD7ED-D641-4048-B2DC-2FD2B03ECAF3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895FC-AD32-4677-B940-70D4BECD64E1}"/>
              </a:ext>
            </a:extLst>
          </p:cNvPr>
          <p:cNvSpPr txBox="1"/>
          <p:nvPr/>
        </p:nvSpPr>
        <p:spPr>
          <a:xfrm>
            <a:off x="840746" y="513168"/>
            <a:ext cx="13885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2-3.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규칙 정리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91E2A-0CA9-46D9-96A4-09EEBF073158}"/>
              </a:ext>
            </a:extLst>
          </p:cNvPr>
          <p:cNvSpPr txBox="1"/>
          <p:nvPr/>
        </p:nvSpPr>
        <p:spPr>
          <a:xfrm>
            <a:off x="745699" y="755794"/>
            <a:ext cx="3113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타워 설치의 규칙 정리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52E1F9-B99F-4A4C-83DB-D81786ECD1CA}"/>
              </a:ext>
            </a:extLst>
          </p:cNvPr>
          <p:cNvSpPr txBox="1"/>
          <p:nvPr/>
        </p:nvSpPr>
        <p:spPr>
          <a:xfrm>
            <a:off x="745699" y="1729294"/>
            <a:ext cx="10594567" cy="13310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타워 드래그 규칙 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디펜스 웨이브 중에만 배치 시도 가능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현재 드라이브 중 배치를 시도하면 에러를 출력함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인벤토리에서 </a:t>
            </a:r>
            <a:r>
              <a:rPr lang="ko-KR" altLang="en-US" sz="1200" dirty="0">
                <a:solidFill>
                  <a:srgbClr val="0070C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타워 </a:t>
            </a:r>
            <a:r>
              <a:rPr lang="en-US" altLang="ko-KR" sz="1200" dirty="0">
                <a:solidFill>
                  <a:srgbClr val="0070C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UI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를 드래그하면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</a:t>
            </a:r>
            <a:r>
              <a:rPr lang="ko-KR" altLang="en-US" sz="1200" dirty="0">
                <a:solidFill>
                  <a:srgbClr val="EE77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타워 오브젝트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</a:t>
            </a:r>
            <a:r>
              <a:rPr lang="en-US" altLang="ko-KR" sz="1100" dirty="0">
                <a:solidFill>
                  <a:srgbClr val="EE77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(GameObject</a:t>
            </a:r>
            <a:r>
              <a:rPr lang="ko-KR" altLang="en-US" sz="1100" dirty="0">
                <a:solidFill>
                  <a:srgbClr val="EE77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프리팹</a:t>
            </a:r>
            <a:r>
              <a:rPr lang="en-US" altLang="ko-KR" sz="1100" dirty="0">
                <a:solidFill>
                  <a:srgbClr val="EE770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r>
              <a:rPr lang="ko-KR" altLang="en-US" sz="1100" dirty="0">
                <a:solidFill>
                  <a:srgbClr val="0070C0"/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터치하는 위치를 따라감</a:t>
            </a:r>
            <a:r>
              <a:rPr lang="ko-KR" altLang="en-US" sz="11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(Hero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테이블에서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#HeroTower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시트의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PrefabAddr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컬럼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ko-KR" altLang="en-US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rgbClr val="EE77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타워 오브젝트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는 격자 단위로 움직임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rgbClr val="EE7700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타워 오브젝트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 드래그 중이면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아래의 규칙을 수행함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CB096F-78E4-4F67-BC1B-F1C4DA092058}"/>
              </a:ext>
            </a:extLst>
          </p:cNvPr>
          <p:cNvSpPr txBox="1"/>
          <p:nvPr/>
        </p:nvSpPr>
        <p:spPr>
          <a:xfrm>
            <a:off x="745699" y="3329405"/>
            <a:ext cx="10373353" cy="35285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rgbClr val="EE7700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타워 오브젝트</a:t>
            </a: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드래그 규칙 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드래그 중에는 맵에 격자 오브젝트가 활성화됨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(※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참고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Map_test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을 프리팹화 하고 안에 격자용 오브젝트를 넣어둠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프리팹에 격자 오브젝트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공격 범위 오브젝트가 활성화됨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격자는 아래 조건에 따라 배치 가능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/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불가능 판정을 검사함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①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 가능 판정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칸이 비어 있음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②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 불가 판정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다른 종류의 타워와 겹침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만렙 타워와 겹침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장애물과 겹침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맵 격자 밖을 벗어남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몬스터의 모든 길목을 막음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③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합성 가능 판정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같은 종류의 타워와 겹침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타워의 격자는 아래 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3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가지 상황에 따라 색이 전환됨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①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칸이 배치 가능 판정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셀 연녹색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(#5FFF55,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알파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100)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②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칸이 배치 불가 판정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셀 붉은색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(#FF0700,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알파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150)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③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같은 종류의 타워와 겹침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모든 셀 흰색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(#FFFFFF,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알파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100)</a:t>
            </a: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5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 이미 놓여진 타워가 드래그중인 타워와 같은 종류고 만렙이 아닐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놓여진 타워에 업그레이드 오브젝트 활성화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 이미 놓여진 타워가 드래그중인 타워와 같은 종류고 만렙이 아니며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터치 좌표가 놓여진 타워와 닿은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드래그중인 타워가 놓여진 타워로 딱 붙음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 이미 놓여진 타워가 드래그중인 타워와 같은 종류지만 만렙일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배치 불가 판정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04429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84DD7ED-D641-4048-B2DC-2FD2B03ECAF3}"/>
              </a:ext>
            </a:extLst>
          </p:cNvPr>
          <p:cNvSpPr/>
          <p:nvPr/>
        </p:nvSpPr>
        <p:spPr>
          <a:xfrm>
            <a:off x="859795" y="561040"/>
            <a:ext cx="45719" cy="212031"/>
          </a:xfrm>
          <a:prstGeom prst="rect">
            <a:avLst/>
          </a:prstGeom>
          <a:solidFill>
            <a:srgbClr val="1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895FC-AD32-4677-B940-70D4BECD64E1}"/>
              </a:ext>
            </a:extLst>
          </p:cNvPr>
          <p:cNvSpPr txBox="1"/>
          <p:nvPr/>
        </p:nvSpPr>
        <p:spPr>
          <a:xfrm>
            <a:off x="840746" y="513168"/>
            <a:ext cx="13885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2-3. </a:t>
            </a:r>
            <a:r>
              <a:rPr lang="ko-KR" altLang="en-US" sz="1400" b="1" dirty="0">
                <a:solidFill>
                  <a:srgbClr val="1A0C2F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규칙 정리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91E2A-0CA9-46D9-96A4-09EEBF073158}"/>
              </a:ext>
            </a:extLst>
          </p:cNvPr>
          <p:cNvSpPr txBox="1"/>
          <p:nvPr/>
        </p:nvSpPr>
        <p:spPr>
          <a:xfrm>
            <a:off x="745699" y="755794"/>
            <a:ext cx="3113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rgbClr val="1A0C2F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타워 설치의 규칙 정리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52E1F9-B99F-4A4C-83DB-D81786ECD1CA}"/>
              </a:ext>
            </a:extLst>
          </p:cNvPr>
          <p:cNvSpPr txBox="1"/>
          <p:nvPr/>
        </p:nvSpPr>
        <p:spPr>
          <a:xfrm>
            <a:off x="745699" y="1729294"/>
            <a:ext cx="9158276" cy="44334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6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타워 드롭 규칙 </a:t>
            </a:r>
            <a:endParaRPr lang="en-US" altLang="ko-KR" sz="16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  <a:p>
            <a:pPr>
              <a:lnSpc>
                <a:spcPct val="120000"/>
              </a:lnSpc>
            </a:pPr>
            <a:r>
              <a:rPr lang="en-US" altLang="ko-KR" sz="4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 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드래그 중인 상태에서 손을 떼면 해당 위치에 타워 배치를 시도함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배치 시도는 아래의 규칙을 따름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①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배치 성공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 -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조건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모든 칸이 배치 가능 판정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 -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액션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해당 위치에 해당 타워 오브젝트 배치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endParaRPr lang="en-US" altLang="ko-KR" sz="5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② 타워 배치 실패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 -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조건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한 칸이라도 배치 불가 판정이 있는 경우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	 -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조건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2: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만렙 타워와 겹친 경우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 -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조건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3: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맵 격자 밖으로 벗어난 경우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 -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조건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4: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몬스터의 모든 이동경로를 막은 경우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 -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액션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배치 시도를 종료함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endParaRPr lang="en-US" altLang="ko-KR" sz="5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③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레벨업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 	 -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조건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같은 종류이며 만렙이 아닌 타워에 드롭한 경우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		 -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액션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: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놓여졌던 타워의 레벨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상승</a:t>
            </a: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endParaRPr lang="en-US" altLang="ko-KR" sz="11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타워 배치 시도가 종료되면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맵의 격자 오브젝트는 비활성화됨</a:t>
            </a:r>
            <a:endParaRPr lang="en-US" altLang="ko-KR" sz="1200" dirty="0">
              <a:solidFill>
                <a:schemeClr val="tx1">
                  <a:lumMod val="85000"/>
                  <a:lumOff val="15000"/>
                </a:schemeClr>
              </a:solidFill>
              <a:latin typeface="에스코어 드림 3 Light" panose="020B0303030302020204" pitchFamily="34" charset="-127"/>
              <a:ea typeface="에스코어 드림 3 Light" panose="020B0303030302020204" pitchFamily="34" charset="-127"/>
            </a:endParaRP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만약 배치한 위치에 적 몬스터가 겹친 경우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몬스터를 밖으로 밀어내고 타워 배치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몬스터가 맵 밖으로 밀리지 않도록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뚫린 칸으로 밀어내기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  <a:p>
            <a:pPr defTabSz="180000">
              <a:lnSpc>
                <a:spcPct val="120000"/>
              </a:lnSpc>
            </a:pP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 -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단</a:t>
            </a:r>
            <a:r>
              <a:rPr lang="en-US" altLang="ko-KR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, </a:t>
            </a:r>
            <a:r>
              <a:rPr lang="ko-KR" altLang="en-US" sz="1200" dirty="0">
                <a:solidFill>
                  <a:schemeClr val="tx1">
                    <a:lumMod val="85000"/>
                    <a:lumOff val="1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몬스터가 중앙을 향해 가는 길을 완벽히 막을 수는 없음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(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최소 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1</a:t>
            </a:r>
            <a:r>
              <a:rPr lang="ko-KR" alt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칸 이상의 통로 필요</a:t>
            </a:r>
            <a:r>
              <a:rPr lang="en-US" altLang="ko-K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3 Light" panose="020B0303030302020204" pitchFamily="34" charset="-127"/>
                <a:ea typeface="에스코어 드림 3 Light" panose="020B0303030302020204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98450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1123</TotalTime>
  <Words>1021</Words>
  <Application>Microsoft Office PowerPoint</Application>
  <PresentationFormat>와이드스크린</PresentationFormat>
  <Paragraphs>132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맑은 고딕</vt:lpstr>
      <vt:lpstr>에스코어 드림 3 Light</vt:lpstr>
      <vt:lpstr>에스코어 드림 5 Medium</vt:lpstr>
      <vt:lpstr>에스코어 드림 7 ExtraBold</vt:lpstr>
      <vt:lpstr>에스코어 드림 9 Black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박준병</dc:creator>
  <cp:lastModifiedBy>박준병</cp:lastModifiedBy>
  <cp:revision>290</cp:revision>
  <dcterms:created xsi:type="dcterms:W3CDTF">2025-04-24T14:22:53Z</dcterms:created>
  <dcterms:modified xsi:type="dcterms:W3CDTF">2025-05-21T00:34:46Z</dcterms:modified>
</cp:coreProperties>
</file>